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/>
        </p:spPr>
      </p:sp>
      <p:pic>
        <p:nvPicPr>
          <p:cNvPr id="3" name="Image 0" descr="/home/user/DOBERMAN-/public/pcu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669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B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PRECIOUS CORNERSTONE UNIVERSITY, IBADAN  ·  DEPT. OF CYBER SECURITY  ·  2025/2026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400" kern="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DOBERMAN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658368" y="37033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Multi-Module AI-Powered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Intelligence Platform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58368" y="4892040"/>
            <a:ext cx="2926080" cy="0"/>
          </a:xfrm>
          <a:prstGeom prst="line">
            <a:avLst/>
          </a:prstGeom>
          <a:noFill/>
          <a:ln w="25400">
            <a:solidFill>
              <a:srgbClr val="30D1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5120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8368" y="5376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Olusanu Joshua Bankole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401568" y="5120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01568" y="5376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2022/493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44768" y="5120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44768" y="5376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Osutokun Kemi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887968" y="5120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887968" y="5376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Cyber Security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threats, one shared blind spot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threat below exploits the same gap: how content and infrastructure appear versus how they actually 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066544" cy="3200400"/>
          </a:xfrm>
          <a:prstGeom prst="roundRect">
            <a:avLst>
              <a:gd name="adj" fmla="val 5310"/>
            </a:avLst>
          </a:prstGeom>
          <a:solidFill>
            <a:srgbClr val="1B1F29"/>
          </a:solidFill>
          <a:ln/>
        </p:spPr>
      </p:sp>
      <p:pic>
        <p:nvPicPr>
          <p:cNvPr id="6" name="Image 0" descr="/home/user/DOBERMAN-/.eval-scripts/pptx-build/icons/eye-FF3B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60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+400%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rise in deepfake attacks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43784" y="2286000"/>
            <a:ext cx="2066544" cy="3200400"/>
          </a:xfrm>
          <a:prstGeom prst="roundRect">
            <a:avLst>
              <a:gd name="adj" fmla="val 5310"/>
            </a:avLst>
          </a:prstGeom>
          <a:solidFill>
            <a:srgbClr val="1B1F29"/>
          </a:solidFill>
          <a:ln/>
        </p:spPr>
      </p:sp>
      <p:pic>
        <p:nvPicPr>
          <p:cNvPr id="10" name="Image 1" descr="/home/user/DOBERMAN-/.eval-scripts/pptx-build/icons/wifi-FF9F0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25603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26664" y="3200400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9F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70%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3026664" y="402336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IoT devices ship with an unpatched critical flaw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47488" y="2286000"/>
            <a:ext cx="2066544" cy="3200400"/>
          </a:xfrm>
          <a:prstGeom prst="roundRect">
            <a:avLst>
              <a:gd name="adj" fmla="val 5310"/>
            </a:avLst>
          </a:prstGeom>
          <a:solidFill>
            <a:srgbClr val="1B1F29"/>
          </a:solidFill>
          <a:ln/>
        </p:spPr>
      </p:sp>
      <p:pic>
        <p:nvPicPr>
          <p:cNvPr id="14" name="Image 2" descr="/home/user/DOBERMAN-/.eval-scripts/pptx-build/icons/file-BF5AF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25603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30368" y="3200400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F5A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2x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5230368" y="402336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AI-generated web text, 2022–24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251192" y="2286000"/>
            <a:ext cx="2066544" cy="3200400"/>
          </a:xfrm>
          <a:prstGeom prst="roundRect">
            <a:avLst>
              <a:gd name="adj" fmla="val 5310"/>
            </a:avLst>
          </a:prstGeom>
          <a:solidFill>
            <a:srgbClr val="1B1F29"/>
          </a:solidFill>
          <a:ln/>
        </p:spPr>
      </p:sp>
      <p:pic>
        <p:nvPicPr>
          <p:cNvPr id="18" name="Image 3" descr="/home/user/DOBERMAN-/.eval-scripts/pptx-build/icons/key-0A84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25603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34072" y="3200400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84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Billions</a:t>
            </a:r>
            <a:endParaRPr lang="en-US" sz="3000" dirty="0"/>
          </a:p>
        </p:txBody>
      </p:sp>
      <p:sp>
        <p:nvSpPr>
          <p:cNvPr id="20" name="Text 14"/>
          <p:cNvSpPr/>
          <p:nvPr/>
        </p:nvSpPr>
        <p:spPr>
          <a:xfrm>
            <a:off x="7434072" y="402336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breached credentials in active circulation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454896" y="2286000"/>
            <a:ext cx="2066544" cy="3200400"/>
          </a:xfrm>
          <a:prstGeom prst="roundRect">
            <a:avLst>
              <a:gd name="adj" fmla="val 5310"/>
            </a:avLst>
          </a:prstGeom>
          <a:solidFill>
            <a:srgbClr val="1B1F29"/>
          </a:solidFill>
          <a:ln/>
        </p:spPr>
      </p:sp>
      <p:pic>
        <p:nvPicPr>
          <p:cNvPr id="22" name="Image 4" descr="/home/user/DOBERMAN-/.eval-scripts/pptx-build/icons/link-30D15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496" y="256032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37776" y="3200400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D15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Seconds</a:t>
            </a:r>
            <a:endParaRPr lang="en-US" sz="3000" dirty="0"/>
          </a:p>
        </p:txBody>
      </p:sp>
      <p:sp>
        <p:nvSpPr>
          <p:cNvPr id="24" name="Text 17"/>
          <p:cNvSpPr/>
          <p:nvPr/>
        </p:nvSpPr>
        <p:spPr>
          <a:xfrm>
            <a:off x="9637776" y="402336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all a phishing kit needs to harvest a credential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9F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Strong tools exist in isolation. None are integrated.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37560" y="1965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35040" y="1965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WEAKNESS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32520" y="1965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WEAKNESS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881360" cy="0"/>
          </a:xfrm>
          <a:prstGeom prst="line">
            <a:avLst/>
          </a:prstGeom>
          <a:noFill/>
          <a:ln w="12700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Deepware / Sensity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514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only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2514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explanation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32520" y="2514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Enterprise-priced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1729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/ Nessus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31729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network only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31729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network access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31729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configuration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83133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Been Pwned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83133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lookup only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383133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lookup type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383133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integrated elsewhere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48970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chatbots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448970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advice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448970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 grounding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32520" y="448970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result integration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1480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NewsGuard / Snopes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51480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Human-curated ratings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51480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score new content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32520" y="51480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real-time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98932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132A1D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9893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or shipped platform combines all of the above under one accessible, explained experience.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0D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DOBERMAN — nine capabilities, one watchdog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1F29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240280"/>
            <a:ext cx="502920" cy="502920"/>
          </a:xfrm>
          <a:prstGeom prst="oval">
            <a:avLst/>
          </a:prstGeom>
          <a:solidFill>
            <a:srgbClr val="13161D"/>
          </a:solidFill>
          <a:ln w="12700">
            <a:solidFill>
              <a:srgbClr val="FF3B30"/>
            </a:solidFill>
            <a:prstDash val="solid"/>
          </a:ln>
        </p:spPr>
      </p:sp>
      <p:pic>
        <p:nvPicPr>
          <p:cNvPr id="6" name="Image 0" descr="/home/user/DOBERMAN-/.eval-scripts/pptx-build/icons/eye-FF3B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545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87452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1F29"/>
          </a:solidFill>
          <a:ln/>
        </p:spPr>
      </p:sp>
      <p:sp>
        <p:nvSpPr>
          <p:cNvPr id="10" name="Shape 7"/>
          <p:cNvSpPr/>
          <p:nvPr/>
        </p:nvSpPr>
        <p:spPr>
          <a:xfrm>
            <a:off x="4407408" y="2240280"/>
            <a:ext cx="502920" cy="502920"/>
          </a:xfrm>
          <a:prstGeom prst="oval">
            <a:avLst/>
          </a:prstGeom>
          <a:solidFill>
            <a:srgbClr val="13161D"/>
          </a:solidFill>
          <a:ln w="12700">
            <a:solidFill>
              <a:srgbClr val="BF5AF2"/>
            </a:solidFill>
            <a:prstDash val="solid"/>
          </a:ln>
        </p:spPr>
      </p:sp>
      <p:pic>
        <p:nvPicPr>
          <p:cNvPr id="11" name="Image 1" descr="/home/user/DOBERMAN-/.eval-scripts/pptx-build/icons/mic-BF5AF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3545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12064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/ manipulation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772400" y="187452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1F29"/>
          </a:solidFill>
          <a:ln/>
        </p:spPr>
      </p:sp>
      <p:sp>
        <p:nvSpPr>
          <p:cNvPr id="15" name="Shape 11"/>
          <p:cNvSpPr/>
          <p:nvPr/>
        </p:nvSpPr>
        <p:spPr>
          <a:xfrm>
            <a:off x="7973568" y="2240280"/>
            <a:ext cx="502920" cy="502920"/>
          </a:xfrm>
          <a:prstGeom prst="oval">
            <a:avLst/>
          </a:prstGeom>
          <a:solidFill>
            <a:srgbClr val="13161D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16" name="Image 2" descr="/home/user/DOBERMAN-/.eval-scripts/pptx-build/icons/file-0A84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3545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AI-Detect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8680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signals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273552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1F29"/>
          </a:solidFill>
          <a:ln/>
        </p:spPr>
      </p:sp>
      <p:sp>
        <p:nvSpPr>
          <p:cNvPr id="20" name="Shape 15"/>
          <p:cNvSpPr/>
          <p:nvPr/>
        </p:nvSpPr>
        <p:spPr>
          <a:xfrm>
            <a:off x="841248" y="3639312"/>
            <a:ext cx="502920" cy="502920"/>
          </a:xfrm>
          <a:prstGeom prst="oval">
            <a:avLst/>
          </a:prstGeom>
          <a:solidFill>
            <a:srgbClr val="13161D"/>
          </a:solidFill>
          <a:ln w="12700">
            <a:solidFill>
              <a:srgbClr val="FF9F0A"/>
            </a:solidFill>
            <a:prstDash val="solid"/>
          </a:ln>
        </p:spPr>
      </p:sp>
      <p:pic>
        <p:nvPicPr>
          <p:cNvPr id="21" name="Image 3" descr="/home/user/DOBERMAN-/.eval-scripts/pptx-build/icons/wifi-FF9F0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7536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456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54480" y="38679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risk triage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06240" y="3273552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1F29"/>
          </a:solidFill>
          <a:ln/>
        </p:spPr>
      </p:sp>
      <p:sp>
        <p:nvSpPr>
          <p:cNvPr id="25" name="Shape 19"/>
          <p:cNvSpPr/>
          <p:nvPr/>
        </p:nvSpPr>
        <p:spPr>
          <a:xfrm>
            <a:off x="4407408" y="3639312"/>
            <a:ext cx="502920" cy="502920"/>
          </a:xfrm>
          <a:prstGeom prst="oval">
            <a:avLst/>
          </a:prstGeom>
          <a:solidFill>
            <a:srgbClr val="13161D"/>
          </a:solidFill>
          <a:ln w="12700">
            <a:solidFill>
              <a:srgbClr val="30D158"/>
            </a:solidFill>
            <a:prstDash val="solid"/>
          </a:ln>
        </p:spPr>
      </p:sp>
      <p:pic>
        <p:nvPicPr>
          <p:cNvPr id="26" name="Image 4" descr="/home/user/DOBERMAN-/.eval-scripts/pptx-build/icons/key-30D15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75361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456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Detect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120640" y="38679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HIBP + k-anonymity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772400" y="3273552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1F29"/>
          </a:solidFill>
          <a:ln/>
        </p:spPr>
      </p:sp>
      <p:sp>
        <p:nvSpPr>
          <p:cNvPr id="30" name="Shape 23"/>
          <p:cNvSpPr/>
          <p:nvPr/>
        </p:nvSpPr>
        <p:spPr>
          <a:xfrm>
            <a:off x="7973568" y="3639312"/>
            <a:ext cx="502920" cy="502920"/>
          </a:xfrm>
          <a:prstGeom prst="oval">
            <a:avLst/>
          </a:prstGeom>
          <a:solidFill>
            <a:srgbClr val="13161D"/>
          </a:solidFill>
          <a:ln w="12700">
            <a:solidFill>
              <a:srgbClr val="FF3B30"/>
            </a:solidFill>
            <a:prstDash val="solid"/>
          </a:ln>
        </p:spPr>
      </p:sp>
      <p:pic>
        <p:nvPicPr>
          <p:cNvPr id="31" name="Image 5" descr="/home/user/DOBERMAN-/.eval-scripts/pptx-build/icons/link-FF3B3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375361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86800" y="3456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Link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686800" y="38679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scoring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0080" y="4672584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1F29"/>
          </a:solidFill>
          <a:ln/>
        </p:spPr>
      </p:sp>
      <p:sp>
        <p:nvSpPr>
          <p:cNvPr id="35" name="Shape 27"/>
          <p:cNvSpPr/>
          <p:nvPr/>
        </p:nvSpPr>
        <p:spPr>
          <a:xfrm>
            <a:off x="841248" y="5038344"/>
            <a:ext cx="502920" cy="502920"/>
          </a:xfrm>
          <a:prstGeom prst="oval">
            <a:avLst/>
          </a:prstGeom>
          <a:solidFill>
            <a:srgbClr val="13161D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36" name="Image 6" descr="/home/user/DOBERMAN-/.eval-scripts/pptx-build/icons/newspaper-0A84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152644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54480" y="48554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1554480" y="52669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/ verify / chat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206240" y="4672584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1F29"/>
          </a:solidFill>
          <a:ln/>
        </p:spPr>
      </p:sp>
      <p:sp>
        <p:nvSpPr>
          <p:cNvPr id="40" name="Shape 31"/>
          <p:cNvSpPr/>
          <p:nvPr/>
        </p:nvSpPr>
        <p:spPr>
          <a:xfrm>
            <a:off x="4407408" y="5038344"/>
            <a:ext cx="502920" cy="502920"/>
          </a:xfrm>
          <a:prstGeom prst="oval">
            <a:avLst/>
          </a:prstGeom>
          <a:solidFill>
            <a:srgbClr val="13161D"/>
          </a:solidFill>
          <a:ln w="12700">
            <a:solidFill>
              <a:srgbClr val="BF5AF2"/>
            </a:solidFill>
            <a:prstDash val="solid"/>
          </a:ln>
        </p:spPr>
      </p:sp>
      <p:pic>
        <p:nvPicPr>
          <p:cNvPr id="41" name="Image 7" descr="/home/user/DOBERMAN-/.eval-scripts/pptx-build/icons/globe-BF5AF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5152644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20640" y="48554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Globe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5120640" y="52669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threat briefs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7772400" y="4672584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1F29"/>
          </a:solidFill>
          <a:ln/>
        </p:spPr>
      </p:sp>
      <p:sp>
        <p:nvSpPr>
          <p:cNvPr id="45" name="Shape 35"/>
          <p:cNvSpPr/>
          <p:nvPr/>
        </p:nvSpPr>
        <p:spPr>
          <a:xfrm>
            <a:off x="7973568" y="5038344"/>
            <a:ext cx="502920" cy="502920"/>
          </a:xfrm>
          <a:prstGeom prst="oval">
            <a:avLst/>
          </a:prstGeom>
          <a:solidFill>
            <a:srgbClr val="13161D"/>
          </a:solidFill>
          <a:ln w="12700">
            <a:solidFill>
              <a:srgbClr val="30D158"/>
            </a:solidFill>
            <a:prstDash val="solid"/>
          </a:ln>
        </p:spPr>
      </p:sp>
      <p:pic>
        <p:nvPicPr>
          <p:cNvPr id="46" name="Image 8" descr="/home/user/DOBERMAN-/.eval-scripts/pptx-build/icons/brain-30D15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440" y="5152644"/>
            <a:ext cx="274320" cy="27432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686800" y="48554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DAYE</a:t>
            </a:r>
            <a:endParaRPr lang="en-US" sz="1500" dirty="0"/>
          </a:p>
        </p:txBody>
      </p:sp>
      <p:sp>
        <p:nvSpPr>
          <p:cNvPr id="48" name="Text 37"/>
          <p:cNvSpPr/>
          <p:nvPr/>
        </p:nvSpPr>
        <p:spPr>
          <a:xfrm>
            <a:off x="8686800" y="52669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analyst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A8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tiers. Every secret stays server-side.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316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2057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SPA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249631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(Manifest V3)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89320" y="30632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B1F29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91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8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FUNCTIONS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Deno serverless functions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39136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· auth check · provider calls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4480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B1F29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7091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0D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+ PROVIDERS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4892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+ RLS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53309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Gemini · Hive AI · HIBP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for this report: provider API keys never appear in the compiled client bundle.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F5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CENTRAL CONTRIBUTION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DAYE — one persona, a prompt template per context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108960" cy="3108960"/>
          </a:xfrm>
          <a:prstGeom prst="oval">
            <a:avLst/>
          </a:prstGeom>
          <a:solidFill>
            <a:srgbClr val="241B2E"/>
          </a:solidFill>
          <a:ln w="19050">
            <a:solidFill>
              <a:srgbClr val="BF5AF2"/>
            </a:solidFill>
            <a:prstDash val="solid"/>
          </a:ln>
        </p:spPr>
      </p:sp>
      <p:pic>
        <p:nvPicPr>
          <p:cNvPr id="5" name="Image 0" descr="/home/user/DOBERMAN-/.eval-scripts/pptx-build/icons/robot-BF5AF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7432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892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Doberman Artificial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Engine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0" y="1828800"/>
            <a:ext cx="109728" cy="109728"/>
          </a:xfrm>
          <a:prstGeom prst="oval">
            <a:avLst/>
          </a:prstGeom>
          <a:solidFill>
            <a:srgbClr val="BF5AF2"/>
          </a:solidFill>
          <a:ln/>
        </p:spPr>
      </p:sp>
      <p:sp>
        <p:nvSpPr>
          <p:cNvPr id="8" name="Text 5"/>
          <p:cNvSpPr/>
          <p:nvPr/>
        </p:nvSpPr>
        <p:spPr>
          <a:xfrm>
            <a:off x="4389120" y="170992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context-specific prompt templates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89120" y="203911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deepfake_result, voice_result, breach_result, scam_link_result, globe_country, idle_tip — each references the calling module’s own structured fields rather than re-deriving a verdict.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0" y="2788920"/>
            <a:ext cx="109728" cy="109728"/>
          </a:xfrm>
          <a:prstGeom prst="oval">
            <a:avLst/>
          </a:prstGeom>
          <a:solidFill>
            <a:srgbClr val="BF5AF2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0" y="267004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signals, not headlines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89120" y="299923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explicitly instruct: interpret which signals actually drove the verdict, don’t just restate the number.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0" y="3749040"/>
            <a:ext cx="109728" cy="109728"/>
          </a:xfrm>
          <a:prstGeom prst="oval">
            <a:avLst/>
          </a:prstGeom>
          <a:solidFill>
            <a:srgbClr val="BF5AF2"/>
          </a:solidFill>
          <a:ln/>
        </p:spPr>
      </p:sp>
      <p:sp>
        <p:nvSpPr>
          <p:cNvPr id="14" name="Text 11"/>
          <p:cNvSpPr/>
          <p:nvPr/>
        </p:nvSpPr>
        <p:spPr>
          <a:xfrm>
            <a:off x="4389120" y="363016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Dual-provider resilience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389120" y="395935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primary → automatic Gemini fallback on failure, added after single-provider dependency was flagged as a risk during development.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0" y="4709160"/>
            <a:ext cx="109728" cy="109728"/>
          </a:xfrm>
          <a:prstGeom prst="oval">
            <a:avLst/>
          </a:prstGeom>
          <a:solidFill>
            <a:srgbClr val="BF5AF2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0" y="459028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honesty instruction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389120" y="491947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 are not confident about specific claims... keep it accurate and general rather than inventing specifics" — verified directly in the deployed prompt.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SPOTLIGHT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EYES · Voice Intelligence · Text AI-Detection</a:t>
            </a:r>
            <a:endParaRPr lang="en-US" sz="2700" dirty="0"/>
          </a:p>
        </p:txBody>
      </p:sp>
      <p:pic>
        <p:nvPicPr>
          <p:cNvPr id="4" name="Image 0" descr="/home/user/DOBERMAN-/.eval-scripts/pptx-build/shots/03-eyes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600200"/>
            <a:ext cx="5212080" cy="33101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600200"/>
            <a:ext cx="5212080" cy="3310128"/>
          </a:xfrm>
          <a:prstGeom prst="roundRect">
            <a:avLst>
              <a:gd name="adj" fmla="val 1381"/>
            </a:avLst>
          </a:prstGeom>
          <a:ln w="12700">
            <a:solidFill>
              <a:srgbClr val="2A2F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AI computer vision + Claude explanation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03911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calls a real third-party detection provider, then DAYE translates the raw classification into plain language.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signals, not a bare score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09067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AI-generation probability, deepfake probability, C2PA credential status, and model attribution shown separately.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Voice: pause-pattern literature informed design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14223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clone indicators (pitch stability, missing breath sounds) over a single number — consistent with JMIR 2024 findings.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4846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minimum word-count gate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519379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signals (sentence uniformity, generic phrasing) surfaced explicitly, framed as probabilistic evidence.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09360" y="49560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Simulated result shown — see Slide 12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9F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SPOTLIGHT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NOSE — IoT risk triage from plain language</a:t>
            </a:r>
            <a:endParaRPr lang="en-US" sz="2800" dirty="0"/>
          </a:p>
        </p:txBody>
      </p:sp>
      <p:pic>
        <p:nvPicPr>
          <p:cNvPr id="4" name="Image 0" descr="/home/user/DOBERMAN-/.eval-scripts/pptx-build/shots/02-nose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5212080" cy="342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5212080" cy="3429000"/>
          </a:xfrm>
          <a:prstGeom prst="roundRect">
            <a:avLst>
              <a:gd name="adj" fmla="val 1333"/>
            </a:avLst>
          </a:prstGeom>
          <a:ln w="12700">
            <a:solidFill>
              <a:srgbClr val="2A2F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1206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access needed — a natural-language description of your devices in, a prioritised remediation plan out.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72200" y="16002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2E1610"/>
          </a:solidFill>
          <a:ln w="12700">
            <a:solidFill>
              <a:srgbClr val="FF3B30"/>
            </a:solidFill>
            <a:prstDash val="solid"/>
          </a:ln>
        </p:spPr>
      </p:sp>
      <p:pic>
        <p:nvPicPr>
          <p:cNvPr id="8" name="Image 1" descr="/home/user/DOBERMAN-/.eval-scripts/pptx-build/icons/warning-FF3B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we withdrew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46520" y="23317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report claimed NOSE’s CVE references were "verified, not hallucinated." Reading the deployed function directly shows it has no NVD lookup — it’s pure LLM generation.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46520" y="3337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CVE-2023-1389 (the TP-Link example) is real — but that reflects the model’s training data on a famous CVE, not a verification mechanism.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46520" y="4206240"/>
            <a:ext cx="4846320" cy="0"/>
          </a:xfrm>
          <a:prstGeom prst="line">
            <a:avLst/>
          </a:prstGeom>
          <a:noFill/>
          <a:ln w="12700">
            <a:solidFill>
              <a:srgbClr val="4A201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46520" y="43434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names it as a limitation and specifies the fix: server-side NVD/CIRCL cross-referencing before a CVE is returned.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0D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SPOTLIGHT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Breach Detection — real HIBP, honest gaps</a:t>
            </a:r>
            <a:endParaRPr lang="en-US" sz="2800" dirty="0"/>
          </a:p>
        </p:txBody>
      </p:sp>
      <p:pic>
        <p:nvPicPr>
          <p:cNvPr id="4" name="Image 0" descr="/home/user/DOBERMAN-/.eval-scripts/pptx-build/shots/12-breach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600200"/>
            <a:ext cx="5212080" cy="33101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600200"/>
            <a:ext cx="5212080" cy="3310128"/>
          </a:xfrm>
          <a:prstGeom prst="roundRect">
            <a:avLst>
              <a:gd name="adj" fmla="val 1381"/>
            </a:avLst>
          </a:prstGeom>
          <a:ln w="12700">
            <a:solidFill>
              <a:srgbClr val="2A2F3A"/>
            </a:solidFill>
            <a:prstDash val="solid"/>
          </a:ln>
        </p:spPr>
      </p:sp>
      <p:pic>
        <p:nvPicPr>
          <p:cNvPr id="6" name="Image 1" descr="/home/user/DOBERMAN-/.eval-scripts/pptx-build/icons/check-30D15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691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Passwords: real k-anonymity protocol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43000" y="21031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 hashed locally, only a 5-character prefix sent to Pwned Passwords — the full password never leaves the function.</a:t>
            </a:r>
            <a:endParaRPr lang="en-US" sz="1100" dirty="0"/>
          </a:p>
        </p:txBody>
      </p:sp>
      <p:pic>
        <p:nvPicPr>
          <p:cNvPr id="9" name="Image 2" descr="/home/user/DOBERMAN-/.eval-scripts/pptx-build/icons/check-30D15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2926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Emails: live HIBP breach-account API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143000" y="33375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when a key is configured — returns real breach names, dates, and exposed data classes.</a:t>
            </a:r>
            <a:endParaRPr lang="en-US" sz="1100" dirty="0"/>
          </a:p>
        </p:txBody>
      </p:sp>
      <p:pic>
        <p:nvPicPr>
          <p:cNvPr id="12" name="Image 3" descr="/home/user/DOBERMAN-/.eval-scripts/pptx-build/icons/check-30D15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0624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4160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Phones: explicitly "unavailable"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143000" y="4572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 data source exists for this lookup, so the function says so — verified directly in source, not inferred.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6309360" y="49560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Simulated result shown — HIBP unreachable from this sandbox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A8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SPOTLIGHT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Scam Link · News Intelligence · Cyber Globe</a:t>
            </a:r>
            <a:endParaRPr lang="en-US" sz="2700" dirty="0"/>
          </a:p>
        </p:txBody>
      </p:sp>
      <p:pic>
        <p:nvPicPr>
          <p:cNvPr id="4" name="Image 0" descr="/home/user/DOBERMAN-/.eval-scripts/pptx-build/shots/13-glob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91640"/>
            <a:ext cx="1088136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10881360" cy="2286000"/>
          </a:xfrm>
          <a:prstGeom prst="roundRect">
            <a:avLst>
              <a:gd name="adj" fmla="val 2000"/>
            </a:avLst>
          </a:prstGeom>
          <a:ln w="12700">
            <a:solidFill>
              <a:srgbClr val="2A2F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2519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Link Analyzer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61772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+ domain indicators (lookalike brands, high-abuse TLDs) scored and named, not just classified.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97680" y="42519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NEWS: feed, verify, and chat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97680" y="461772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cyber-news feed, a credibility verifier, and a separate per-article conversational analyst.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55280" y="42519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Globe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461772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Cached, 24h-TTL country threat briefs — prompt explicitly forbids inventing statistics for low-profile countries.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0D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Verified directly against the live deployment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1B1F29"/>
          </a:solidFill>
          <a:ln/>
        </p:spPr>
      </p:sp>
      <p:pic>
        <p:nvPicPr>
          <p:cNvPr id="5" name="Image 0" descr="/home/user/DOBERMAN-/.eval-scripts/pptx-build/icons/shield-30D1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97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every table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via direct inspection of the live Supabase project — not assumed from migration files.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87452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1B1F29"/>
          </a:solidFill>
          <a:ln/>
        </p:spPr>
      </p:sp>
      <p:pic>
        <p:nvPicPr>
          <p:cNvPr id="9" name="Image 1" descr="/home/user/DOBERMAN-/.eval-scripts/pptx-build/icons/shield-30D15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488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0" y="2697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provider secret in the client bundle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92240" y="3108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/ Gemini / Hive / HIBP key is read server-side only, inside an edge function.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1B1F29"/>
          </a:solidFill>
          <a:ln/>
        </p:spPr>
      </p:sp>
      <p:pic>
        <p:nvPicPr>
          <p:cNvPr id="13" name="Image 2" descr="/home/user/DOBERMAN-/.eval-scripts/pptx-build/icons/shield-30D15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05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4709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enforced server-side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914400" y="5120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limited function queries usage_logs itself — a client cannot spoof or bypass its own quota.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388620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1B1F29"/>
          </a:solidFill>
          <a:ln/>
        </p:spPr>
      </p:sp>
      <p:pic>
        <p:nvPicPr>
          <p:cNvPr id="17" name="Image 3" descr="/home/user/DOBERMAN-/.eval-scripts/pptx-build/icons/shield-30D15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1605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2240" y="4709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"unavailable" over fabrication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92240" y="5120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 source: Breach Detection and Cyber Globe both decline to invent a result.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9F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report can and cannot claim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32A1D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D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edge function’s source, read in full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358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database schema + RLS configuration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6027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interface walkthrough, every module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16966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Server-side rate limiting, secret isolation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2E161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CLAIMED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468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Detection accuracy / false-positive rates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30358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Any sample-size-based test result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36027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Live penetration testing outcomes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416966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Real user-acceptance testing results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this sandbox cannot reach the live Supabase project, and EYES/NOSE/NEWS/Breach are limited to 3 uses/account/day — both stated plainly, not worked around.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A8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Interface walkthrough — real UI, simulated data</a:t>
            </a:r>
            <a:endParaRPr lang="en-US" sz="2800" dirty="0"/>
          </a:p>
        </p:txBody>
      </p:sp>
      <p:pic>
        <p:nvPicPr>
          <p:cNvPr id="4" name="Image 0" descr="/home/user/DOBERMAN-/.eval-scripts/pptx-build/shots/01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91640"/>
            <a:ext cx="352044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3520440" cy="2240280"/>
          </a:xfrm>
          <a:prstGeom prst="roundRect">
            <a:avLst>
              <a:gd name="adj" fmla="val 2041"/>
            </a:avLst>
          </a:prstGeom>
          <a:ln w="12700">
            <a:solidFill>
              <a:srgbClr val="2A2F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023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pic>
        <p:nvPicPr>
          <p:cNvPr id="7" name="Image 1" descr="/home/user/DOBERMAN-/.eval-scripts/pptx-build/shots/09-daye-cha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1691640"/>
            <a:ext cx="3520440" cy="2240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97680" y="1691640"/>
            <a:ext cx="3520440" cy="2240280"/>
          </a:xfrm>
          <a:prstGeom prst="roundRect">
            <a:avLst>
              <a:gd name="adj" fmla="val 2041"/>
            </a:avLst>
          </a:prstGeom>
          <a:ln w="12700">
            <a:solidFill>
              <a:srgbClr val="2A2F3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297680" y="4023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DAYE Intelligence Chat</a:t>
            </a:r>
            <a:endParaRPr lang="en-US" sz="1200" dirty="0"/>
          </a:p>
        </p:txBody>
      </p:sp>
      <p:pic>
        <p:nvPicPr>
          <p:cNvPr id="10" name="Image 2" descr="/home/user/DOBERMAN-/.eval-scripts/pptx-build/shots/12-breach-resul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55280" y="1691640"/>
            <a:ext cx="3520440" cy="22402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955280" y="1691640"/>
            <a:ext cx="3520440" cy="2240280"/>
          </a:xfrm>
          <a:prstGeom prst="roundRect">
            <a:avLst>
              <a:gd name="adj" fmla="val 2041"/>
            </a:avLst>
          </a:prstGeom>
          <a:ln w="12700">
            <a:solidFill>
              <a:srgbClr val="2A2F3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955280" y="4023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Detection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40080" y="46634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is the real, deployed DOBERMAN frontend, exercised through genuine interaction. Displayed data is simulated — network access to production was unavailable when this report was prepared. 16 module screenshots in total, reproduced in Appendix C.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F5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DOBERMAN actually contributes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DOBERMAN does not claim to have invented or trained any detection model. Hive AI, Claude, and Gemini remain third-party services.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2377440"/>
            <a:ext cx="914400" cy="914400"/>
          </a:xfrm>
          <a:prstGeom prst="oval">
            <a:avLst/>
          </a:prstGeom>
          <a:solidFill>
            <a:srgbClr val="1B1F29"/>
          </a:solidFill>
          <a:ln w="12700">
            <a:solidFill>
              <a:srgbClr val="30D158"/>
            </a:solidFill>
            <a:prstDash val="solid"/>
          </a:ln>
        </p:spPr>
      </p:sp>
      <p:pic>
        <p:nvPicPr>
          <p:cNvPr id="6" name="Image 0" descr="/home/user/DOBERMAN-/.eval-scripts/pptx-build/icons/layers-30D1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606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429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rate-limited, multi-provider integration across four heterogeneous AI/security APIs behind one architecture.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2377440"/>
            <a:ext cx="914400" cy="914400"/>
          </a:xfrm>
          <a:prstGeom prst="oval">
            <a:avLst/>
          </a:prstGeom>
          <a:solidFill>
            <a:srgbClr val="1B1F29"/>
          </a:solidFill>
          <a:ln w="12700">
            <a:solidFill>
              <a:srgbClr val="30D158"/>
            </a:solidFill>
            <a:prstDash val="solid"/>
          </a:ln>
        </p:spPr>
      </p:sp>
      <p:pic>
        <p:nvPicPr>
          <p:cNvPr id="10" name="Image 1" descr="/home/user/DOBERMAN-/.eval-scripts/pptx-build/icons/brain-30D15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6060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97680" y="3429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DAYE persona pattern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297680" y="388620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reusable, context-aware explanatory layer — purpose-built prompts per result type, not a generic chatbot.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235440" y="2377440"/>
            <a:ext cx="914400" cy="914400"/>
          </a:xfrm>
          <a:prstGeom prst="oval">
            <a:avLst/>
          </a:prstGeom>
          <a:solidFill>
            <a:srgbClr val="1B1F29"/>
          </a:solidFill>
          <a:ln w="12700">
            <a:solidFill>
              <a:srgbClr val="30D158"/>
            </a:solidFill>
            <a:prstDash val="solid"/>
          </a:ln>
        </p:spPr>
      </p:sp>
      <p:pic>
        <p:nvPicPr>
          <p:cNvPr id="14" name="Image 2" descr="/home/user/DOBERMAN-/.eval-scripts/pptx-build/icons/shield-30D15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6060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55280" y="3429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Anti-fabrication discipline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955280" y="388620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demonstrated, code-verified pattern of declining to invent results when live data is unavailable.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9F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Limitations and the priority roadmap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dataset-scale accuracy evaluation performed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live penetration testing against production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NOSE, Voice, Text, Scam Link not in main nav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few legacy tables need cleanup or removal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D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FUTURE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2103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Link all 9 capabilities into sidebar +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2606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NVD/CIRCL CVE cross-referencing in NOSE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3108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Dataset-scale accuracy run (EYES/Voice/Text/NEWS)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36118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Structured, consented user-acceptance testing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881360" cy="0"/>
          </a:xfrm>
          <a:prstGeom prst="line">
            <a:avLst/>
          </a:prstGeom>
          <a:noFill/>
          <a:ln w="12700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26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programme above is prioritised above any new feature — validating what exists matters more than extending it.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0D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platform earns trust by being honest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about the edge of its own knowledge.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DOBERMAN’s architecture and every module’s interface were verified directly. Its detection accuracy was not measured — and this report says so plainly. Extending that evaluation is the most important next step for this project.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0D15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983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 AREAS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37560" y="4206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0D15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37560" y="4983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FUNCTIONS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4206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0D15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035040" y="4983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AI/SECURITY PROVIDERS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32520" y="4206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0D15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732520" y="4983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 WITH RLS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300" kern="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DOBERMAN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Olusanu Joshua Bankole  ·  2022/493  ·  B.Sc. Cyber Security  ·  PCU, Ibadan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DOBERMAN — Final Year Project Defence</dc:title>
  <dc:subject>PptxGenJS Presentation</dc:subject>
  <dc:creator>Olusanu Joshua Bankole</dc:creator>
  <cp:lastModifiedBy>Olusanu Joshua Bankole</cp:lastModifiedBy>
  <cp:revision>1</cp:revision>
  <dcterms:created xsi:type="dcterms:W3CDTF">2026-08-12T07:59:47Z</dcterms:created>
  <dcterms:modified xsi:type="dcterms:W3CDTF">2026-08-12T07:59:47Z</dcterms:modified>
</cp:coreProperties>
</file>