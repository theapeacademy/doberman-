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2.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image" Target="../media/image-11-1.png"/><Relationship Id="rId4"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C10"/>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0C10"/>
          </a:solidFill>
          <a:ln/>
        </p:spPr>
      </p:sp>
      <p:pic>
        <p:nvPicPr>
          <p:cNvPr id="3" name="Image 0" descr="/home/user/DOBERMAN-/public/pcu-logo.jpeg">    </p:cNvPr>
          <p:cNvPicPr>
            <a:picLocks noChangeAspect="1"/>
          </p:cNvPicPr>
          <p:nvPr/>
        </p:nvPicPr>
        <p:blipFill>
          <a:blip r:embed="rId1"/>
          <a:stretch>
            <a:fillRect/>
          </a:stretch>
        </p:blipFill>
        <p:spPr>
          <a:xfrm>
            <a:off x="640080" y="548640"/>
            <a:ext cx="502920" cy="502920"/>
          </a:xfrm>
          <a:prstGeom prst="rect">
            <a:avLst/>
          </a:prstGeom>
        </p:spPr>
      </p:pic>
      <p:sp>
        <p:nvSpPr>
          <p:cNvPr id="4" name="Text 1"/>
          <p:cNvSpPr/>
          <p:nvPr/>
        </p:nvSpPr>
        <p:spPr>
          <a:xfrm>
            <a:off x="1280160" y="566928"/>
            <a:ext cx="9144000" cy="457200"/>
          </a:xfrm>
          <a:prstGeom prst="rect">
            <a:avLst/>
          </a:prstGeom>
          <a:noFill/>
          <a:ln/>
        </p:spPr>
        <p:txBody>
          <a:bodyPr wrap="square" rtlCol="0" anchor="ctr"/>
          <a:lstStyle/>
          <a:p>
            <a:pPr indent="0" marL="0">
              <a:buNone/>
            </a:pPr>
            <a:r>
              <a:rPr lang="en-US" sz="1000" spc="200" kern="0" dirty="0">
                <a:solidFill>
                  <a:srgbClr val="9BA3AF"/>
                </a:solidFill>
                <a:latin typeface="Courier New" pitchFamily="34" charset="0"/>
                <a:ea typeface="Courier New" pitchFamily="34" charset="-122"/>
                <a:cs typeface="Courier New" pitchFamily="34" charset="-120"/>
              </a:rPr>
              <a:t>PRECIOUS CORNERSTONE UNIVERSITY, IBADAN  ·  DEPT. OF CYBER SECURITY  ·  2025/2026</a:t>
            </a:r>
            <a:endParaRPr lang="en-US" sz="1000" dirty="0"/>
          </a:p>
        </p:txBody>
      </p:sp>
      <p:sp>
        <p:nvSpPr>
          <p:cNvPr id="5" name="Text 2"/>
          <p:cNvSpPr/>
          <p:nvPr/>
        </p:nvSpPr>
        <p:spPr>
          <a:xfrm>
            <a:off x="640080" y="2286000"/>
            <a:ext cx="10972800" cy="1645920"/>
          </a:xfrm>
          <a:prstGeom prst="rect">
            <a:avLst/>
          </a:prstGeom>
          <a:noFill/>
          <a:ln/>
        </p:spPr>
        <p:txBody>
          <a:bodyPr wrap="square" rtlCol="0" anchor="ctr"/>
          <a:lstStyle/>
          <a:p>
            <a:pPr indent="0" marL="0">
              <a:buNone/>
            </a:pPr>
            <a:r>
              <a:rPr lang="en-US" sz="8000" b="1" spc="400" kern="0" dirty="0">
                <a:solidFill>
                  <a:srgbClr val="FFFFFF"/>
                </a:solidFill>
                <a:latin typeface="Bookman Old Style" pitchFamily="34" charset="0"/>
                <a:ea typeface="Bookman Old Style" pitchFamily="34" charset="-122"/>
                <a:cs typeface="Bookman Old Style" pitchFamily="34" charset="-120"/>
              </a:rPr>
              <a:t>DOBERMAN</a:t>
            </a:r>
            <a:endParaRPr lang="en-US" sz="8000" dirty="0"/>
          </a:p>
        </p:txBody>
      </p:sp>
      <p:sp>
        <p:nvSpPr>
          <p:cNvPr id="6" name="Text 3"/>
          <p:cNvSpPr/>
          <p:nvPr/>
        </p:nvSpPr>
        <p:spPr>
          <a:xfrm>
            <a:off x="658368" y="3703320"/>
            <a:ext cx="9601200" cy="914400"/>
          </a:xfrm>
          <a:prstGeom prst="rect">
            <a:avLst/>
          </a:prstGeom>
          <a:noFill/>
          <a:ln/>
        </p:spPr>
        <p:txBody>
          <a:bodyPr wrap="square" rtlCol="0" anchor="ctr"/>
          <a:lstStyle/>
          <a:p>
            <a:pPr indent="0" marL="0">
              <a:lnSpc>
                <a:spcPct val="120000"/>
              </a:lnSpc>
              <a:buNone/>
            </a:pPr>
            <a:r>
              <a:rPr lang="en-US" sz="2000" dirty="0">
                <a:solidFill>
                  <a:srgbClr val="9BA3AF"/>
                </a:solidFill>
                <a:latin typeface="Calibri" pitchFamily="34" charset="0"/>
                <a:ea typeface="Calibri" pitchFamily="34" charset="-122"/>
                <a:cs typeface="Calibri" pitchFamily="34" charset="-120"/>
              </a:rPr>
              <a:t>Design and Implementation of a Multi-Module AI-Powered</a:t>
            </a:r>
            <a:endParaRPr lang="en-US" sz="2000" dirty="0"/>
          </a:p>
          <a:p>
            <a:pPr indent="0" marL="0">
              <a:lnSpc>
                <a:spcPct val="120000"/>
              </a:lnSpc>
              <a:buNone/>
            </a:pPr>
            <a:r>
              <a:rPr lang="en-US" sz="2000" dirty="0">
                <a:solidFill>
                  <a:srgbClr val="9BA3AF"/>
                </a:solidFill>
                <a:latin typeface="Calibri" pitchFamily="34" charset="0"/>
                <a:ea typeface="Calibri" pitchFamily="34" charset="-122"/>
                <a:cs typeface="Calibri" pitchFamily="34" charset="-120"/>
              </a:rPr>
              <a:t>Cybersecurity Intelligence Platform</a:t>
            </a:r>
            <a:endParaRPr lang="en-US" sz="2000" dirty="0"/>
          </a:p>
        </p:txBody>
      </p:sp>
      <p:sp>
        <p:nvSpPr>
          <p:cNvPr id="7" name="Shape 4"/>
          <p:cNvSpPr/>
          <p:nvPr/>
        </p:nvSpPr>
        <p:spPr>
          <a:xfrm>
            <a:off x="658368" y="4892040"/>
            <a:ext cx="2926080" cy="0"/>
          </a:xfrm>
          <a:prstGeom prst="line">
            <a:avLst/>
          </a:prstGeom>
          <a:noFill/>
          <a:ln w="25400">
            <a:solidFill>
              <a:srgbClr val="30D158"/>
            </a:solidFill>
            <a:prstDash val="solid"/>
          </a:ln>
        </p:spPr>
      </p:sp>
      <p:sp>
        <p:nvSpPr>
          <p:cNvPr id="8" name="Text 5"/>
          <p:cNvSpPr/>
          <p:nvPr/>
        </p:nvSpPr>
        <p:spPr>
          <a:xfrm>
            <a:off x="658368" y="5120640"/>
            <a:ext cx="2651760" cy="274320"/>
          </a:xfrm>
          <a:prstGeom prst="rect">
            <a:avLst/>
          </a:prstGeom>
          <a:noFill/>
          <a:ln/>
        </p:spPr>
        <p:txBody>
          <a:bodyPr wrap="square" rtlCol="0" anchor="ctr"/>
          <a:lstStyle/>
          <a:p>
            <a:pPr indent="0" marL="0">
              <a:buNone/>
            </a:pPr>
            <a:r>
              <a:rPr lang="en-US" sz="900" spc="150" kern="0" dirty="0">
                <a:solidFill>
                  <a:srgbClr val="6B7280"/>
                </a:solidFill>
                <a:latin typeface="Courier New" pitchFamily="34" charset="0"/>
                <a:ea typeface="Courier New" pitchFamily="34" charset="-122"/>
                <a:cs typeface="Courier New" pitchFamily="34" charset="-120"/>
              </a:rPr>
              <a:t>AUTHOR</a:t>
            </a:r>
            <a:endParaRPr lang="en-US" sz="900" dirty="0"/>
          </a:p>
        </p:txBody>
      </p:sp>
      <p:sp>
        <p:nvSpPr>
          <p:cNvPr id="9" name="Text 6"/>
          <p:cNvSpPr/>
          <p:nvPr/>
        </p:nvSpPr>
        <p:spPr>
          <a:xfrm>
            <a:off x="658368" y="5376672"/>
            <a:ext cx="26517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Olusanu Joshua Bankole</a:t>
            </a:r>
            <a:endParaRPr lang="en-US" sz="1400" dirty="0"/>
          </a:p>
        </p:txBody>
      </p:sp>
      <p:sp>
        <p:nvSpPr>
          <p:cNvPr id="10" name="Text 7"/>
          <p:cNvSpPr/>
          <p:nvPr/>
        </p:nvSpPr>
        <p:spPr>
          <a:xfrm>
            <a:off x="3401568" y="5120640"/>
            <a:ext cx="2651760" cy="274320"/>
          </a:xfrm>
          <a:prstGeom prst="rect">
            <a:avLst/>
          </a:prstGeom>
          <a:noFill/>
          <a:ln/>
        </p:spPr>
        <p:txBody>
          <a:bodyPr wrap="square" rtlCol="0" anchor="ctr"/>
          <a:lstStyle/>
          <a:p>
            <a:pPr indent="0" marL="0">
              <a:buNone/>
            </a:pPr>
            <a:r>
              <a:rPr lang="en-US" sz="900" spc="150" kern="0" dirty="0">
                <a:solidFill>
                  <a:srgbClr val="6B7280"/>
                </a:solidFill>
                <a:latin typeface="Courier New" pitchFamily="34" charset="0"/>
                <a:ea typeface="Courier New" pitchFamily="34" charset="-122"/>
                <a:cs typeface="Courier New" pitchFamily="34" charset="-120"/>
              </a:rPr>
              <a:t>MATRIC</a:t>
            </a:r>
            <a:endParaRPr lang="en-US" sz="900" dirty="0"/>
          </a:p>
        </p:txBody>
      </p:sp>
      <p:sp>
        <p:nvSpPr>
          <p:cNvPr id="11" name="Text 8"/>
          <p:cNvSpPr/>
          <p:nvPr/>
        </p:nvSpPr>
        <p:spPr>
          <a:xfrm>
            <a:off x="3401568" y="5376672"/>
            <a:ext cx="26517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2022/493</a:t>
            </a:r>
            <a:endParaRPr lang="en-US" sz="1400" dirty="0"/>
          </a:p>
        </p:txBody>
      </p:sp>
      <p:sp>
        <p:nvSpPr>
          <p:cNvPr id="12" name="Text 9"/>
          <p:cNvSpPr/>
          <p:nvPr/>
        </p:nvSpPr>
        <p:spPr>
          <a:xfrm>
            <a:off x="6144768" y="5120640"/>
            <a:ext cx="2651760" cy="274320"/>
          </a:xfrm>
          <a:prstGeom prst="rect">
            <a:avLst/>
          </a:prstGeom>
          <a:noFill/>
          <a:ln/>
        </p:spPr>
        <p:txBody>
          <a:bodyPr wrap="square" rtlCol="0" anchor="ctr"/>
          <a:lstStyle/>
          <a:p>
            <a:pPr indent="0" marL="0">
              <a:buNone/>
            </a:pPr>
            <a:r>
              <a:rPr lang="en-US" sz="900" spc="150" kern="0" dirty="0">
                <a:solidFill>
                  <a:srgbClr val="6B7280"/>
                </a:solidFill>
                <a:latin typeface="Courier New" pitchFamily="34" charset="0"/>
                <a:ea typeface="Courier New" pitchFamily="34" charset="-122"/>
                <a:cs typeface="Courier New" pitchFamily="34" charset="-120"/>
              </a:rPr>
              <a:t>SUPERVISOR</a:t>
            </a:r>
            <a:endParaRPr lang="en-US" sz="900" dirty="0"/>
          </a:p>
        </p:txBody>
      </p:sp>
      <p:sp>
        <p:nvSpPr>
          <p:cNvPr id="13" name="Text 10"/>
          <p:cNvSpPr/>
          <p:nvPr/>
        </p:nvSpPr>
        <p:spPr>
          <a:xfrm>
            <a:off x="6144768" y="5376672"/>
            <a:ext cx="26517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Dr. Osutokun Kemi</a:t>
            </a:r>
            <a:endParaRPr lang="en-US" sz="1400" dirty="0"/>
          </a:p>
        </p:txBody>
      </p:sp>
      <p:sp>
        <p:nvSpPr>
          <p:cNvPr id="14" name="Text 11"/>
          <p:cNvSpPr/>
          <p:nvPr/>
        </p:nvSpPr>
        <p:spPr>
          <a:xfrm>
            <a:off x="8887968" y="5120640"/>
            <a:ext cx="2651760" cy="274320"/>
          </a:xfrm>
          <a:prstGeom prst="rect">
            <a:avLst/>
          </a:prstGeom>
          <a:noFill/>
          <a:ln/>
        </p:spPr>
        <p:txBody>
          <a:bodyPr wrap="square" rtlCol="0" anchor="ctr"/>
          <a:lstStyle/>
          <a:p>
            <a:pPr indent="0" marL="0">
              <a:buNone/>
            </a:pPr>
            <a:r>
              <a:rPr lang="en-US" sz="900" spc="150" kern="0" dirty="0">
                <a:solidFill>
                  <a:srgbClr val="6B7280"/>
                </a:solidFill>
                <a:latin typeface="Courier New" pitchFamily="34" charset="0"/>
                <a:ea typeface="Courier New" pitchFamily="34" charset="-122"/>
                <a:cs typeface="Courier New" pitchFamily="34" charset="-120"/>
              </a:rPr>
              <a:t>PROGRAMME</a:t>
            </a:r>
            <a:endParaRPr lang="en-US" sz="900" dirty="0"/>
          </a:p>
        </p:txBody>
      </p:sp>
      <p:sp>
        <p:nvSpPr>
          <p:cNvPr id="15" name="Text 12"/>
          <p:cNvSpPr/>
          <p:nvPr/>
        </p:nvSpPr>
        <p:spPr>
          <a:xfrm>
            <a:off x="8887968" y="5376672"/>
            <a:ext cx="26517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B.Sc. Cyber Security</a:t>
            </a:r>
            <a:endParaRPr lang="en-US" sz="1400" dirty="0"/>
          </a:p>
        </p:txBody>
      </p:sp>
      <p:sp>
        <p:nvSpPr>
          <p:cNvPr id="16" name="Text 13"/>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FF3B30"/>
                </a:solidFill>
                <a:latin typeface="Courier New" pitchFamily="34" charset="0"/>
                <a:ea typeface="Courier New" pitchFamily="34" charset="-122"/>
                <a:cs typeface="Courier New" pitchFamily="34" charset="-120"/>
              </a:rPr>
              <a:t>THE PROBLEM</a:t>
            </a:r>
            <a:endParaRPr lang="en-US" sz="1100" dirty="0"/>
          </a:p>
        </p:txBody>
      </p:sp>
      <p:sp>
        <p:nvSpPr>
          <p:cNvPr id="3" name="Text 1"/>
          <p:cNvSpPr/>
          <p:nvPr/>
        </p:nvSpPr>
        <p:spPr>
          <a:xfrm>
            <a:off x="640080" y="777240"/>
            <a:ext cx="10515600" cy="914400"/>
          </a:xfrm>
          <a:prstGeom prst="rect">
            <a:avLst/>
          </a:prstGeom>
          <a:noFill/>
          <a:ln/>
        </p:spPr>
        <p:txBody>
          <a:bodyPr wrap="square" rtlCol="0" anchor="ctr"/>
          <a:lstStyle/>
          <a:p>
            <a:pPr indent="0" marL="0">
              <a:buNone/>
            </a:pPr>
            <a:r>
              <a:rPr lang="en-US" sz="3200" b="1" dirty="0">
                <a:solidFill>
                  <a:srgbClr val="FFFFFF"/>
                </a:solidFill>
                <a:latin typeface="Bookman Old Style" pitchFamily="34" charset="0"/>
                <a:ea typeface="Bookman Old Style" pitchFamily="34" charset="-122"/>
                <a:cs typeface="Bookman Old Style" pitchFamily="34" charset="-120"/>
              </a:rPr>
              <a:t>Five threats, one shared blind spot</a:t>
            </a:r>
            <a:endParaRPr lang="en-US" sz="3200" dirty="0"/>
          </a:p>
        </p:txBody>
      </p:sp>
      <p:sp>
        <p:nvSpPr>
          <p:cNvPr id="4" name="Text 2"/>
          <p:cNvSpPr/>
          <p:nvPr/>
        </p:nvSpPr>
        <p:spPr>
          <a:xfrm>
            <a:off x="640080" y="1554480"/>
            <a:ext cx="10515600" cy="457200"/>
          </a:xfrm>
          <a:prstGeom prst="rect">
            <a:avLst/>
          </a:prstGeom>
          <a:noFill/>
          <a:ln/>
        </p:spPr>
        <p:txBody>
          <a:bodyPr wrap="square" rtlCol="0" anchor="ctr"/>
          <a:lstStyle/>
          <a:p>
            <a:pPr indent="0" marL="0">
              <a:buNone/>
            </a:pPr>
            <a:r>
              <a:rPr lang="en-US" sz="1400" dirty="0">
                <a:solidFill>
                  <a:srgbClr val="9BA3AF"/>
                </a:solidFill>
                <a:latin typeface="Calibri" pitchFamily="34" charset="0"/>
                <a:ea typeface="Calibri" pitchFamily="34" charset="-122"/>
                <a:cs typeface="Calibri" pitchFamily="34" charset="-120"/>
              </a:rPr>
              <a:t>Every threat below exploits the same gap: how content and infrastructure appear versus how they actually are.</a:t>
            </a:r>
            <a:endParaRPr lang="en-US" sz="1400" dirty="0"/>
          </a:p>
        </p:txBody>
      </p:sp>
      <p:sp>
        <p:nvSpPr>
          <p:cNvPr id="5" name="Shape 3"/>
          <p:cNvSpPr/>
          <p:nvPr/>
        </p:nvSpPr>
        <p:spPr>
          <a:xfrm>
            <a:off x="640080" y="2286000"/>
            <a:ext cx="2066544" cy="3200400"/>
          </a:xfrm>
          <a:prstGeom prst="roundRect">
            <a:avLst>
              <a:gd name="adj" fmla="val 5310"/>
            </a:avLst>
          </a:prstGeom>
          <a:solidFill>
            <a:srgbClr val="1B1F29"/>
          </a:solidFill>
          <a:ln/>
        </p:spPr>
      </p:sp>
      <p:pic>
        <p:nvPicPr>
          <p:cNvPr id="6" name="Image 0" descr="/home/user/DOBERMAN-/.eval-scripts/pptx-build/icons/eye-FF3B30.png">    </p:cNvPr>
          <p:cNvPicPr>
            <a:picLocks noChangeAspect="1"/>
          </p:cNvPicPr>
          <p:nvPr/>
        </p:nvPicPr>
        <p:blipFill>
          <a:blip r:embed="rId1"/>
          <a:stretch>
            <a:fillRect/>
          </a:stretch>
        </p:blipFill>
        <p:spPr>
          <a:xfrm>
            <a:off x="868680" y="2560320"/>
            <a:ext cx="457200" cy="457200"/>
          </a:xfrm>
          <a:prstGeom prst="rect">
            <a:avLst/>
          </a:prstGeom>
        </p:spPr>
      </p:pic>
      <p:sp>
        <p:nvSpPr>
          <p:cNvPr id="7" name="Text 4"/>
          <p:cNvSpPr/>
          <p:nvPr/>
        </p:nvSpPr>
        <p:spPr>
          <a:xfrm>
            <a:off x="822960" y="3200400"/>
            <a:ext cx="1700784" cy="822960"/>
          </a:xfrm>
          <a:prstGeom prst="rect">
            <a:avLst/>
          </a:prstGeom>
          <a:noFill/>
          <a:ln/>
        </p:spPr>
        <p:txBody>
          <a:bodyPr wrap="square" rtlCol="0" anchor="t"/>
          <a:lstStyle/>
          <a:p>
            <a:pPr indent="0" marL="0">
              <a:buNone/>
            </a:pPr>
            <a:r>
              <a:rPr lang="en-US" sz="3000" b="1" dirty="0">
                <a:solidFill>
                  <a:srgbClr val="FF3B30"/>
                </a:solidFill>
                <a:latin typeface="Bookman Old Style" pitchFamily="34" charset="0"/>
                <a:ea typeface="Bookman Old Style" pitchFamily="34" charset="-122"/>
                <a:cs typeface="Bookman Old Style" pitchFamily="34" charset="-120"/>
              </a:rPr>
              <a:t>+400%</a:t>
            </a:r>
            <a:endParaRPr lang="en-US" sz="3000" dirty="0"/>
          </a:p>
        </p:txBody>
      </p:sp>
      <p:sp>
        <p:nvSpPr>
          <p:cNvPr id="8" name="Text 5"/>
          <p:cNvSpPr/>
          <p:nvPr/>
        </p:nvSpPr>
        <p:spPr>
          <a:xfrm>
            <a:off x="822960" y="4023360"/>
            <a:ext cx="1700784" cy="1280160"/>
          </a:xfrm>
          <a:prstGeom prst="rect">
            <a:avLst/>
          </a:prstGeom>
          <a:noFill/>
          <a:ln/>
        </p:spPr>
        <p:txBody>
          <a:bodyPr wrap="square" rtlCol="0" anchor="t"/>
          <a:lstStyle/>
          <a:p>
            <a:pPr indent="0" marL="0">
              <a:buNone/>
            </a:pPr>
            <a:r>
              <a:rPr lang="en-US" sz="1200" dirty="0">
                <a:solidFill>
                  <a:srgbClr val="9BA3AF"/>
                </a:solidFill>
                <a:latin typeface="Calibri" pitchFamily="34" charset="0"/>
                <a:ea typeface="Calibri" pitchFamily="34" charset="-122"/>
                <a:cs typeface="Calibri" pitchFamily="34" charset="-120"/>
              </a:rPr>
              <a:t>YoY rise in deepfake attacks</a:t>
            </a:r>
            <a:endParaRPr lang="en-US" sz="1200" dirty="0"/>
          </a:p>
        </p:txBody>
      </p:sp>
      <p:sp>
        <p:nvSpPr>
          <p:cNvPr id="9" name="Shape 6"/>
          <p:cNvSpPr/>
          <p:nvPr/>
        </p:nvSpPr>
        <p:spPr>
          <a:xfrm>
            <a:off x="2843784" y="2286000"/>
            <a:ext cx="2066544" cy="3200400"/>
          </a:xfrm>
          <a:prstGeom prst="roundRect">
            <a:avLst>
              <a:gd name="adj" fmla="val 5310"/>
            </a:avLst>
          </a:prstGeom>
          <a:solidFill>
            <a:srgbClr val="1B1F29"/>
          </a:solidFill>
          <a:ln/>
        </p:spPr>
      </p:sp>
      <p:pic>
        <p:nvPicPr>
          <p:cNvPr id="10" name="Image 1" descr="/home/user/DOBERMAN-/.eval-scripts/pptx-build/icons/wifi-FF9F0A.png">    </p:cNvPr>
          <p:cNvPicPr>
            <a:picLocks noChangeAspect="1"/>
          </p:cNvPicPr>
          <p:nvPr/>
        </p:nvPicPr>
        <p:blipFill>
          <a:blip r:embed="rId2"/>
          <a:stretch>
            <a:fillRect/>
          </a:stretch>
        </p:blipFill>
        <p:spPr>
          <a:xfrm>
            <a:off x="3072384" y="2560320"/>
            <a:ext cx="457200" cy="457200"/>
          </a:xfrm>
          <a:prstGeom prst="rect">
            <a:avLst/>
          </a:prstGeom>
        </p:spPr>
      </p:pic>
      <p:sp>
        <p:nvSpPr>
          <p:cNvPr id="11" name="Text 7"/>
          <p:cNvSpPr/>
          <p:nvPr/>
        </p:nvSpPr>
        <p:spPr>
          <a:xfrm>
            <a:off x="3026664" y="3200400"/>
            <a:ext cx="1700784" cy="822960"/>
          </a:xfrm>
          <a:prstGeom prst="rect">
            <a:avLst/>
          </a:prstGeom>
          <a:noFill/>
          <a:ln/>
        </p:spPr>
        <p:txBody>
          <a:bodyPr wrap="square" rtlCol="0" anchor="t"/>
          <a:lstStyle/>
          <a:p>
            <a:pPr indent="0" marL="0">
              <a:buNone/>
            </a:pPr>
            <a:r>
              <a:rPr lang="en-US" sz="3000" b="1" dirty="0">
                <a:solidFill>
                  <a:srgbClr val="FF9F0A"/>
                </a:solidFill>
                <a:latin typeface="Bookman Old Style" pitchFamily="34" charset="0"/>
                <a:ea typeface="Bookman Old Style" pitchFamily="34" charset="-122"/>
                <a:cs typeface="Bookman Old Style" pitchFamily="34" charset="-120"/>
              </a:rPr>
              <a:t>70%</a:t>
            </a:r>
            <a:endParaRPr lang="en-US" sz="3000" dirty="0"/>
          </a:p>
        </p:txBody>
      </p:sp>
      <p:sp>
        <p:nvSpPr>
          <p:cNvPr id="12" name="Text 8"/>
          <p:cNvSpPr/>
          <p:nvPr/>
        </p:nvSpPr>
        <p:spPr>
          <a:xfrm>
            <a:off x="3026664" y="4023360"/>
            <a:ext cx="1700784" cy="1280160"/>
          </a:xfrm>
          <a:prstGeom prst="rect">
            <a:avLst/>
          </a:prstGeom>
          <a:noFill/>
          <a:ln/>
        </p:spPr>
        <p:txBody>
          <a:bodyPr wrap="square" rtlCol="0" anchor="t"/>
          <a:lstStyle/>
          <a:p>
            <a:pPr indent="0" marL="0">
              <a:buNone/>
            </a:pPr>
            <a:r>
              <a:rPr lang="en-US" sz="1200" dirty="0">
                <a:solidFill>
                  <a:srgbClr val="9BA3AF"/>
                </a:solidFill>
                <a:latin typeface="Calibri" pitchFamily="34" charset="0"/>
                <a:ea typeface="Calibri" pitchFamily="34" charset="-122"/>
                <a:cs typeface="Calibri" pitchFamily="34" charset="-120"/>
              </a:rPr>
              <a:t>of IoT devices ship with an unpatched critical flaw</a:t>
            </a:r>
            <a:endParaRPr lang="en-US" sz="1200" dirty="0"/>
          </a:p>
        </p:txBody>
      </p:sp>
      <p:sp>
        <p:nvSpPr>
          <p:cNvPr id="13" name="Shape 9"/>
          <p:cNvSpPr/>
          <p:nvPr/>
        </p:nvSpPr>
        <p:spPr>
          <a:xfrm>
            <a:off x="5047488" y="2286000"/>
            <a:ext cx="2066544" cy="3200400"/>
          </a:xfrm>
          <a:prstGeom prst="roundRect">
            <a:avLst>
              <a:gd name="adj" fmla="val 5310"/>
            </a:avLst>
          </a:prstGeom>
          <a:solidFill>
            <a:srgbClr val="1B1F29"/>
          </a:solidFill>
          <a:ln/>
        </p:spPr>
      </p:sp>
      <p:pic>
        <p:nvPicPr>
          <p:cNvPr id="14" name="Image 2" descr="/home/user/DOBERMAN-/.eval-scripts/pptx-build/icons/file-BF5AF2.png">    </p:cNvPr>
          <p:cNvPicPr>
            <a:picLocks noChangeAspect="1"/>
          </p:cNvPicPr>
          <p:nvPr/>
        </p:nvPicPr>
        <p:blipFill>
          <a:blip r:embed="rId3"/>
          <a:stretch>
            <a:fillRect/>
          </a:stretch>
        </p:blipFill>
        <p:spPr>
          <a:xfrm>
            <a:off x="5276088" y="2560320"/>
            <a:ext cx="457200" cy="457200"/>
          </a:xfrm>
          <a:prstGeom prst="rect">
            <a:avLst/>
          </a:prstGeom>
        </p:spPr>
      </p:pic>
      <p:sp>
        <p:nvSpPr>
          <p:cNvPr id="15" name="Text 10"/>
          <p:cNvSpPr/>
          <p:nvPr/>
        </p:nvSpPr>
        <p:spPr>
          <a:xfrm>
            <a:off x="5230368" y="3200400"/>
            <a:ext cx="1700784" cy="822960"/>
          </a:xfrm>
          <a:prstGeom prst="rect">
            <a:avLst/>
          </a:prstGeom>
          <a:noFill/>
          <a:ln/>
        </p:spPr>
        <p:txBody>
          <a:bodyPr wrap="square" rtlCol="0" anchor="t"/>
          <a:lstStyle/>
          <a:p>
            <a:pPr indent="0" marL="0">
              <a:buNone/>
            </a:pPr>
            <a:r>
              <a:rPr lang="en-US" sz="3000" b="1" dirty="0">
                <a:solidFill>
                  <a:srgbClr val="BF5AF2"/>
                </a:solidFill>
                <a:latin typeface="Bookman Old Style" pitchFamily="34" charset="0"/>
                <a:ea typeface="Bookman Old Style" pitchFamily="34" charset="-122"/>
                <a:cs typeface="Bookman Old Style" pitchFamily="34" charset="-120"/>
              </a:rPr>
              <a:t>2x</a:t>
            </a:r>
            <a:endParaRPr lang="en-US" sz="3000" dirty="0"/>
          </a:p>
        </p:txBody>
      </p:sp>
      <p:sp>
        <p:nvSpPr>
          <p:cNvPr id="16" name="Text 11"/>
          <p:cNvSpPr/>
          <p:nvPr/>
        </p:nvSpPr>
        <p:spPr>
          <a:xfrm>
            <a:off x="5230368" y="4023360"/>
            <a:ext cx="1700784" cy="1280160"/>
          </a:xfrm>
          <a:prstGeom prst="rect">
            <a:avLst/>
          </a:prstGeom>
          <a:noFill/>
          <a:ln/>
        </p:spPr>
        <p:txBody>
          <a:bodyPr wrap="square" rtlCol="0" anchor="t"/>
          <a:lstStyle/>
          <a:p>
            <a:pPr indent="0" marL="0">
              <a:buNone/>
            </a:pPr>
            <a:r>
              <a:rPr lang="en-US" sz="1200" dirty="0">
                <a:solidFill>
                  <a:srgbClr val="9BA3AF"/>
                </a:solidFill>
                <a:latin typeface="Calibri" pitchFamily="34" charset="0"/>
                <a:ea typeface="Calibri" pitchFamily="34" charset="-122"/>
                <a:cs typeface="Calibri" pitchFamily="34" charset="-120"/>
              </a:rPr>
              <a:t>growth in AI-generated web text, 2022–24</a:t>
            </a:r>
            <a:endParaRPr lang="en-US" sz="1200" dirty="0"/>
          </a:p>
        </p:txBody>
      </p:sp>
      <p:sp>
        <p:nvSpPr>
          <p:cNvPr id="17" name="Shape 12"/>
          <p:cNvSpPr/>
          <p:nvPr/>
        </p:nvSpPr>
        <p:spPr>
          <a:xfrm>
            <a:off x="7251192" y="2286000"/>
            <a:ext cx="2066544" cy="3200400"/>
          </a:xfrm>
          <a:prstGeom prst="roundRect">
            <a:avLst>
              <a:gd name="adj" fmla="val 5310"/>
            </a:avLst>
          </a:prstGeom>
          <a:solidFill>
            <a:srgbClr val="1B1F29"/>
          </a:solidFill>
          <a:ln/>
        </p:spPr>
      </p:sp>
      <p:pic>
        <p:nvPicPr>
          <p:cNvPr id="18" name="Image 3" descr="/home/user/DOBERMAN-/.eval-scripts/pptx-build/icons/key-0A84FF.png">    </p:cNvPr>
          <p:cNvPicPr>
            <a:picLocks noChangeAspect="1"/>
          </p:cNvPicPr>
          <p:nvPr/>
        </p:nvPicPr>
        <p:blipFill>
          <a:blip r:embed="rId4"/>
          <a:stretch>
            <a:fillRect/>
          </a:stretch>
        </p:blipFill>
        <p:spPr>
          <a:xfrm>
            <a:off x="7479792" y="2560320"/>
            <a:ext cx="457200" cy="457200"/>
          </a:xfrm>
          <a:prstGeom prst="rect">
            <a:avLst/>
          </a:prstGeom>
        </p:spPr>
      </p:pic>
      <p:sp>
        <p:nvSpPr>
          <p:cNvPr id="19" name="Text 13"/>
          <p:cNvSpPr/>
          <p:nvPr/>
        </p:nvSpPr>
        <p:spPr>
          <a:xfrm>
            <a:off x="7434072" y="3200400"/>
            <a:ext cx="1700784" cy="822960"/>
          </a:xfrm>
          <a:prstGeom prst="rect">
            <a:avLst/>
          </a:prstGeom>
          <a:noFill/>
          <a:ln/>
        </p:spPr>
        <p:txBody>
          <a:bodyPr wrap="square" rtlCol="0" anchor="t"/>
          <a:lstStyle/>
          <a:p>
            <a:pPr indent="0" marL="0">
              <a:buNone/>
            </a:pPr>
            <a:r>
              <a:rPr lang="en-US" sz="3000" b="1" dirty="0">
                <a:solidFill>
                  <a:srgbClr val="0A84FF"/>
                </a:solidFill>
                <a:latin typeface="Bookman Old Style" pitchFamily="34" charset="0"/>
                <a:ea typeface="Bookman Old Style" pitchFamily="34" charset="-122"/>
                <a:cs typeface="Bookman Old Style" pitchFamily="34" charset="-120"/>
              </a:rPr>
              <a:t>Billions</a:t>
            </a:r>
            <a:endParaRPr lang="en-US" sz="3000" dirty="0"/>
          </a:p>
        </p:txBody>
      </p:sp>
      <p:sp>
        <p:nvSpPr>
          <p:cNvPr id="20" name="Text 14"/>
          <p:cNvSpPr/>
          <p:nvPr/>
        </p:nvSpPr>
        <p:spPr>
          <a:xfrm>
            <a:off x="7434072" y="4023360"/>
            <a:ext cx="1700784" cy="1280160"/>
          </a:xfrm>
          <a:prstGeom prst="rect">
            <a:avLst/>
          </a:prstGeom>
          <a:noFill/>
          <a:ln/>
        </p:spPr>
        <p:txBody>
          <a:bodyPr wrap="square" rtlCol="0" anchor="t"/>
          <a:lstStyle/>
          <a:p>
            <a:pPr indent="0" marL="0">
              <a:buNone/>
            </a:pPr>
            <a:r>
              <a:rPr lang="en-US" sz="1200" dirty="0">
                <a:solidFill>
                  <a:srgbClr val="9BA3AF"/>
                </a:solidFill>
                <a:latin typeface="Calibri" pitchFamily="34" charset="0"/>
                <a:ea typeface="Calibri" pitchFamily="34" charset="-122"/>
                <a:cs typeface="Calibri" pitchFamily="34" charset="-120"/>
              </a:rPr>
              <a:t>of breached credentials in active circulation</a:t>
            </a:r>
            <a:endParaRPr lang="en-US" sz="1200" dirty="0"/>
          </a:p>
        </p:txBody>
      </p:sp>
      <p:sp>
        <p:nvSpPr>
          <p:cNvPr id="21" name="Shape 15"/>
          <p:cNvSpPr/>
          <p:nvPr/>
        </p:nvSpPr>
        <p:spPr>
          <a:xfrm>
            <a:off x="9454896" y="2286000"/>
            <a:ext cx="2066544" cy="3200400"/>
          </a:xfrm>
          <a:prstGeom prst="roundRect">
            <a:avLst>
              <a:gd name="adj" fmla="val 5310"/>
            </a:avLst>
          </a:prstGeom>
          <a:solidFill>
            <a:srgbClr val="1B1F29"/>
          </a:solidFill>
          <a:ln/>
        </p:spPr>
      </p:sp>
      <p:pic>
        <p:nvPicPr>
          <p:cNvPr id="22" name="Image 4" descr="/home/user/DOBERMAN-/.eval-scripts/pptx-build/icons/link-30D158.png">    </p:cNvPr>
          <p:cNvPicPr>
            <a:picLocks noChangeAspect="1"/>
          </p:cNvPicPr>
          <p:nvPr/>
        </p:nvPicPr>
        <p:blipFill>
          <a:blip r:embed="rId5"/>
          <a:stretch>
            <a:fillRect/>
          </a:stretch>
        </p:blipFill>
        <p:spPr>
          <a:xfrm>
            <a:off x="9683496" y="2560320"/>
            <a:ext cx="457200" cy="457200"/>
          </a:xfrm>
          <a:prstGeom prst="rect">
            <a:avLst/>
          </a:prstGeom>
        </p:spPr>
      </p:pic>
      <p:sp>
        <p:nvSpPr>
          <p:cNvPr id="23" name="Text 16"/>
          <p:cNvSpPr/>
          <p:nvPr/>
        </p:nvSpPr>
        <p:spPr>
          <a:xfrm>
            <a:off x="9637776" y="3200400"/>
            <a:ext cx="1700784" cy="822960"/>
          </a:xfrm>
          <a:prstGeom prst="rect">
            <a:avLst/>
          </a:prstGeom>
          <a:noFill/>
          <a:ln/>
        </p:spPr>
        <p:txBody>
          <a:bodyPr wrap="square" rtlCol="0" anchor="t"/>
          <a:lstStyle/>
          <a:p>
            <a:pPr indent="0" marL="0">
              <a:buNone/>
            </a:pPr>
            <a:r>
              <a:rPr lang="en-US" sz="3000" b="1" dirty="0">
                <a:solidFill>
                  <a:srgbClr val="30D158"/>
                </a:solidFill>
                <a:latin typeface="Bookman Old Style" pitchFamily="34" charset="0"/>
                <a:ea typeface="Bookman Old Style" pitchFamily="34" charset="-122"/>
                <a:cs typeface="Bookman Old Style" pitchFamily="34" charset="-120"/>
              </a:rPr>
              <a:t>Seconds</a:t>
            </a:r>
            <a:endParaRPr lang="en-US" sz="3000" dirty="0"/>
          </a:p>
        </p:txBody>
      </p:sp>
      <p:sp>
        <p:nvSpPr>
          <p:cNvPr id="24" name="Text 17"/>
          <p:cNvSpPr/>
          <p:nvPr/>
        </p:nvSpPr>
        <p:spPr>
          <a:xfrm>
            <a:off x="9637776" y="4023360"/>
            <a:ext cx="1700784" cy="1280160"/>
          </a:xfrm>
          <a:prstGeom prst="rect">
            <a:avLst/>
          </a:prstGeom>
          <a:noFill/>
          <a:ln/>
        </p:spPr>
        <p:txBody>
          <a:bodyPr wrap="square" rtlCol="0" anchor="t"/>
          <a:lstStyle/>
          <a:p>
            <a:pPr indent="0" marL="0">
              <a:buNone/>
            </a:pPr>
            <a:r>
              <a:rPr lang="en-US" sz="1200" dirty="0">
                <a:solidFill>
                  <a:srgbClr val="9BA3AF"/>
                </a:solidFill>
                <a:latin typeface="Calibri" pitchFamily="34" charset="0"/>
                <a:ea typeface="Calibri" pitchFamily="34" charset="-122"/>
                <a:cs typeface="Calibri" pitchFamily="34" charset="-120"/>
              </a:rPr>
              <a:t>is all a phishing kit needs to harvest a credential</a:t>
            </a:r>
            <a:endParaRPr lang="en-US" sz="1200" dirty="0"/>
          </a:p>
        </p:txBody>
      </p:sp>
      <p:sp>
        <p:nvSpPr>
          <p:cNvPr id="25" name="Text 18"/>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FF9F0A"/>
                </a:solidFill>
                <a:latin typeface="Courier New" pitchFamily="34" charset="0"/>
                <a:ea typeface="Courier New" pitchFamily="34" charset="-122"/>
                <a:cs typeface="Courier New" pitchFamily="34" charset="-120"/>
              </a:rPr>
              <a:t>RESEARCH GAP</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Strong tools exist in isolation. None are integrated.</a:t>
            </a:r>
            <a:endParaRPr lang="en-US" sz="3000" dirty="0"/>
          </a:p>
        </p:txBody>
      </p:sp>
      <p:sp>
        <p:nvSpPr>
          <p:cNvPr id="4" name="Text 2"/>
          <p:cNvSpPr/>
          <p:nvPr/>
        </p:nvSpPr>
        <p:spPr>
          <a:xfrm>
            <a:off x="640080" y="1965960"/>
            <a:ext cx="2606040" cy="320040"/>
          </a:xfrm>
          <a:prstGeom prst="rect">
            <a:avLst/>
          </a:prstGeom>
          <a:noFill/>
          <a:ln/>
        </p:spPr>
        <p:txBody>
          <a:bodyPr wrap="square" rtlCol="0" anchor="ctr"/>
          <a:lstStyle/>
          <a:p>
            <a:pPr indent="0" marL="0">
              <a:buNone/>
            </a:pPr>
            <a:r>
              <a:rPr lang="en-US" sz="1000" spc="150" kern="0" dirty="0">
                <a:solidFill>
                  <a:srgbClr val="6B7280"/>
                </a:solidFill>
                <a:latin typeface="Courier New" pitchFamily="34" charset="0"/>
                <a:ea typeface="Courier New" pitchFamily="34" charset="-122"/>
                <a:cs typeface="Courier New" pitchFamily="34" charset="-120"/>
              </a:rPr>
              <a:t>TOOL</a:t>
            </a:r>
            <a:endParaRPr lang="en-US" sz="1000" dirty="0"/>
          </a:p>
        </p:txBody>
      </p:sp>
      <p:sp>
        <p:nvSpPr>
          <p:cNvPr id="5" name="Text 3"/>
          <p:cNvSpPr/>
          <p:nvPr/>
        </p:nvSpPr>
        <p:spPr>
          <a:xfrm>
            <a:off x="3337560" y="1965960"/>
            <a:ext cx="2606040" cy="320040"/>
          </a:xfrm>
          <a:prstGeom prst="rect">
            <a:avLst/>
          </a:prstGeom>
          <a:noFill/>
          <a:ln/>
        </p:spPr>
        <p:txBody>
          <a:bodyPr wrap="square" rtlCol="0" anchor="ctr"/>
          <a:lstStyle/>
          <a:p>
            <a:pPr indent="0" marL="0">
              <a:buNone/>
            </a:pPr>
            <a:r>
              <a:rPr lang="en-US" sz="1000" spc="150" kern="0" dirty="0">
                <a:solidFill>
                  <a:srgbClr val="6B7280"/>
                </a:solidFill>
                <a:latin typeface="Courier New" pitchFamily="34" charset="0"/>
                <a:ea typeface="Courier New" pitchFamily="34" charset="-122"/>
                <a:cs typeface="Courier New" pitchFamily="34" charset="-120"/>
              </a:rPr>
              <a:t>COVERS</a:t>
            </a:r>
            <a:endParaRPr lang="en-US" sz="1000" dirty="0"/>
          </a:p>
        </p:txBody>
      </p:sp>
      <p:sp>
        <p:nvSpPr>
          <p:cNvPr id="6" name="Text 4"/>
          <p:cNvSpPr/>
          <p:nvPr/>
        </p:nvSpPr>
        <p:spPr>
          <a:xfrm>
            <a:off x="6035040" y="1965960"/>
            <a:ext cx="2606040" cy="320040"/>
          </a:xfrm>
          <a:prstGeom prst="rect">
            <a:avLst/>
          </a:prstGeom>
          <a:noFill/>
          <a:ln/>
        </p:spPr>
        <p:txBody>
          <a:bodyPr wrap="square" rtlCol="0" anchor="ctr"/>
          <a:lstStyle/>
          <a:p>
            <a:pPr indent="0" marL="0">
              <a:buNone/>
            </a:pPr>
            <a:r>
              <a:rPr lang="en-US" sz="1000" spc="150" kern="0" dirty="0">
                <a:solidFill>
                  <a:srgbClr val="6B7280"/>
                </a:solidFill>
                <a:latin typeface="Courier New" pitchFamily="34" charset="0"/>
                <a:ea typeface="Courier New" pitchFamily="34" charset="-122"/>
                <a:cs typeface="Courier New" pitchFamily="34" charset="-120"/>
              </a:rPr>
              <a:t>WEAKNESS 1</a:t>
            </a:r>
            <a:endParaRPr lang="en-US" sz="1000" dirty="0"/>
          </a:p>
        </p:txBody>
      </p:sp>
      <p:sp>
        <p:nvSpPr>
          <p:cNvPr id="7" name="Text 5"/>
          <p:cNvSpPr/>
          <p:nvPr/>
        </p:nvSpPr>
        <p:spPr>
          <a:xfrm>
            <a:off x="8732520" y="1965960"/>
            <a:ext cx="2606040" cy="320040"/>
          </a:xfrm>
          <a:prstGeom prst="rect">
            <a:avLst/>
          </a:prstGeom>
          <a:noFill/>
          <a:ln/>
        </p:spPr>
        <p:txBody>
          <a:bodyPr wrap="square" rtlCol="0" anchor="ctr"/>
          <a:lstStyle/>
          <a:p>
            <a:pPr indent="0" marL="0">
              <a:buNone/>
            </a:pPr>
            <a:r>
              <a:rPr lang="en-US" sz="1000" spc="150" kern="0" dirty="0">
                <a:solidFill>
                  <a:srgbClr val="6B7280"/>
                </a:solidFill>
                <a:latin typeface="Courier New" pitchFamily="34" charset="0"/>
                <a:ea typeface="Courier New" pitchFamily="34" charset="-122"/>
                <a:cs typeface="Courier New" pitchFamily="34" charset="-120"/>
              </a:rPr>
              <a:t>WEAKNESS 2</a:t>
            </a:r>
            <a:endParaRPr lang="en-US" sz="1000" dirty="0"/>
          </a:p>
        </p:txBody>
      </p:sp>
      <p:sp>
        <p:nvSpPr>
          <p:cNvPr id="8" name="Shape 6"/>
          <p:cNvSpPr/>
          <p:nvPr/>
        </p:nvSpPr>
        <p:spPr>
          <a:xfrm>
            <a:off x="640080" y="2331720"/>
            <a:ext cx="10881360" cy="0"/>
          </a:xfrm>
          <a:prstGeom prst="line">
            <a:avLst/>
          </a:prstGeom>
          <a:noFill/>
          <a:ln w="12700">
            <a:solidFill>
              <a:srgbClr val="2A2F3A"/>
            </a:solidFill>
            <a:prstDash val="solid"/>
          </a:ln>
        </p:spPr>
      </p:sp>
      <p:sp>
        <p:nvSpPr>
          <p:cNvPr id="9" name="Text 7"/>
          <p:cNvSpPr/>
          <p:nvPr/>
        </p:nvSpPr>
        <p:spPr>
          <a:xfrm>
            <a:off x="640080" y="2514600"/>
            <a:ext cx="2606040" cy="5486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Deepware / Sensity</a:t>
            </a:r>
            <a:endParaRPr lang="en-US" sz="1300" dirty="0"/>
          </a:p>
        </p:txBody>
      </p:sp>
      <p:sp>
        <p:nvSpPr>
          <p:cNvPr id="10" name="Text 8"/>
          <p:cNvSpPr/>
          <p:nvPr/>
        </p:nvSpPr>
        <p:spPr>
          <a:xfrm>
            <a:off x="3337560" y="2514600"/>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Deepfake only</a:t>
            </a:r>
            <a:endParaRPr lang="en-US" sz="1300" dirty="0"/>
          </a:p>
        </p:txBody>
      </p:sp>
      <p:sp>
        <p:nvSpPr>
          <p:cNvPr id="11" name="Text 9"/>
          <p:cNvSpPr/>
          <p:nvPr/>
        </p:nvSpPr>
        <p:spPr>
          <a:xfrm>
            <a:off x="6035040" y="2514600"/>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Minimal explanation</a:t>
            </a:r>
            <a:endParaRPr lang="en-US" sz="1300" dirty="0"/>
          </a:p>
        </p:txBody>
      </p:sp>
      <p:sp>
        <p:nvSpPr>
          <p:cNvPr id="12" name="Text 10"/>
          <p:cNvSpPr/>
          <p:nvPr/>
        </p:nvSpPr>
        <p:spPr>
          <a:xfrm>
            <a:off x="8732520" y="2514600"/>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Enterprise-priced</a:t>
            </a:r>
            <a:endParaRPr lang="en-US" sz="1300" dirty="0"/>
          </a:p>
        </p:txBody>
      </p:sp>
      <p:sp>
        <p:nvSpPr>
          <p:cNvPr id="13" name="Text 11"/>
          <p:cNvSpPr/>
          <p:nvPr/>
        </p:nvSpPr>
        <p:spPr>
          <a:xfrm>
            <a:off x="640080" y="3172968"/>
            <a:ext cx="2606040" cy="5486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Shodan / Nessus</a:t>
            </a:r>
            <a:endParaRPr lang="en-US" sz="1300" dirty="0"/>
          </a:p>
        </p:txBody>
      </p:sp>
      <p:sp>
        <p:nvSpPr>
          <p:cNvPr id="14" name="Text 12"/>
          <p:cNvSpPr/>
          <p:nvPr/>
        </p:nvSpPr>
        <p:spPr>
          <a:xfrm>
            <a:off x="3337560" y="3172968"/>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IoT / network only</a:t>
            </a:r>
            <a:endParaRPr lang="en-US" sz="1300" dirty="0"/>
          </a:p>
        </p:txBody>
      </p:sp>
      <p:sp>
        <p:nvSpPr>
          <p:cNvPr id="15" name="Text 13"/>
          <p:cNvSpPr/>
          <p:nvPr/>
        </p:nvSpPr>
        <p:spPr>
          <a:xfrm>
            <a:off x="6035040" y="3172968"/>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Requires network access</a:t>
            </a:r>
            <a:endParaRPr lang="en-US" sz="1300" dirty="0"/>
          </a:p>
        </p:txBody>
      </p:sp>
      <p:sp>
        <p:nvSpPr>
          <p:cNvPr id="16" name="Text 14"/>
          <p:cNvSpPr/>
          <p:nvPr/>
        </p:nvSpPr>
        <p:spPr>
          <a:xfrm>
            <a:off x="8732520" y="3172968"/>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Expert configuration</a:t>
            </a:r>
            <a:endParaRPr lang="en-US" sz="1300" dirty="0"/>
          </a:p>
        </p:txBody>
      </p:sp>
      <p:sp>
        <p:nvSpPr>
          <p:cNvPr id="17" name="Text 15"/>
          <p:cNvSpPr/>
          <p:nvPr/>
        </p:nvSpPr>
        <p:spPr>
          <a:xfrm>
            <a:off x="640080" y="3831336"/>
            <a:ext cx="2606040" cy="5486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Have I Been Pwned</a:t>
            </a:r>
            <a:endParaRPr lang="en-US" sz="1300" dirty="0"/>
          </a:p>
        </p:txBody>
      </p:sp>
      <p:sp>
        <p:nvSpPr>
          <p:cNvPr id="18" name="Text 16"/>
          <p:cNvSpPr/>
          <p:nvPr/>
        </p:nvSpPr>
        <p:spPr>
          <a:xfrm>
            <a:off x="3337560" y="3831336"/>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Breach lookup only</a:t>
            </a:r>
            <a:endParaRPr lang="en-US" sz="1300" dirty="0"/>
          </a:p>
        </p:txBody>
      </p:sp>
      <p:sp>
        <p:nvSpPr>
          <p:cNvPr id="19" name="Text 17"/>
          <p:cNvSpPr/>
          <p:nvPr/>
        </p:nvSpPr>
        <p:spPr>
          <a:xfrm>
            <a:off x="6035040" y="3831336"/>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Single lookup type</a:t>
            </a:r>
            <a:endParaRPr lang="en-US" sz="1300" dirty="0"/>
          </a:p>
        </p:txBody>
      </p:sp>
      <p:sp>
        <p:nvSpPr>
          <p:cNvPr id="20" name="Text 18"/>
          <p:cNvSpPr/>
          <p:nvPr/>
        </p:nvSpPr>
        <p:spPr>
          <a:xfrm>
            <a:off x="8732520" y="3831336"/>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Not integrated elsewhere</a:t>
            </a:r>
            <a:endParaRPr lang="en-US" sz="1300" dirty="0"/>
          </a:p>
        </p:txBody>
      </p:sp>
      <p:sp>
        <p:nvSpPr>
          <p:cNvPr id="21" name="Text 19"/>
          <p:cNvSpPr/>
          <p:nvPr/>
        </p:nvSpPr>
        <p:spPr>
          <a:xfrm>
            <a:off x="640080" y="4489704"/>
            <a:ext cx="2606040" cy="5486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Generic LLM chatbots</a:t>
            </a:r>
            <a:endParaRPr lang="en-US" sz="1300" dirty="0"/>
          </a:p>
        </p:txBody>
      </p:sp>
      <p:sp>
        <p:nvSpPr>
          <p:cNvPr id="22" name="Text 20"/>
          <p:cNvSpPr/>
          <p:nvPr/>
        </p:nvSpPr>
        <p:spPr>
          <a:xfrm>
            <a:off x="3337560" y="4489704"/>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General advice</a:t>
            </a:r>
            <a:endParaRPr lang="en-US" sz="1300" dirty="0"/>
          </a:p>
        </p:txBody>
      </p:sp>
      <p:sp>
        <p:nvSpPr>
          <p:cNvPr id="23" name="Text 21"/>
          <p:cNvSpPr/>
          <p:nvPr/>
        </p:nvSpPr>
        <p:spPr>
          <a:xfrm>
            <a:off x="6035040" y="4489704"/>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No domain grounding</a:t>
            </a:r>
            <a:endParaRPr lang="en-US" sz="1300" dirty="0"/>
          </a:p>
        </p:txBody>
      </p:sp>
      <p:sp>
        <p:nvSpPr>
          <p:cNvPr id="24" name="Text 22"/>
          <p:cNvSpPr/>
          <p:nvPr/>
        </p:nvSpPr>
        <p:spPr>
          <a:xfrm>
            <a:off x="8732520" y="4489704"/>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No result integration</a:t>
            </a:r>
            <a:endParaRPr lang="en-US" sz="1300" dirty="0"/>
          </a:p>
        </p:txBody>
      </p:sp>
      <p:sp>
        <p:nvSpPr>
          <p:cNvPr id="25" name="Text 23"/>
          <p:cNvSpPr/>
          <p:nvPr/>
        </p:nvSpPr>
        <p:spPr>
          <a:xfrm>
            <a:off x="640080" y="5148072"/>
            <a:ext cx="2606040" cy="5486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NewsGuard / Snopes</a:t>
            </a:r>
            <a:endParaRPr lang="en-US" sz="1300" dirty="0"/>
          </a:p>
        </p:txBody>
      </p:sp>
      <p:sp>
        <p:nvSpPr>
          <p:cNvPr id="26" name="Text 24"/>
          <p:cNvSpPr/>
          <p:nvPr/>
        </p:nvSpPr>
        <p:spPr>
          <a:xfrm>
            <a:off x="3337560" y="5148072"/>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Human-curated ratings</a:t>
            </a:r>
            <a:endParaRPr lang="en-US" sz="1300" dirty="0"/>
          </a:p>
        </p:txBody>
      </p:sp>
      <p:sp>
        <p:nvSpPr>
          <p:cNvPr id="27" name="Text 25"/>
          <p:cNvSpPr/>
          <p:nvPr/>
        </p:nvSpPr>
        <p:spPr>
          <a:xfrm>
            <a:off x="6035040" y="5148072"/>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Can’t score new content</a:t>
            </a:r>
            <a:endParaRPr lang="en-US" sz="1300" dirty="0"/>
          </a:p>
        </p:txBody>
      </p:sp>
      <p:sp>
        <p:nvSpPr>
          <p:cNvPr id="28" name="Text 26"/>
          <p:cNvSpPr/>
          <p:nvPr/>
        </p:nvSpPr>
        <p:spPr>
          <a:xfrm>
            <a:off x="8732520" y="5148072"/>
            <a:ext cx="2606040" cy="548640"/>
          </a:xfrm>
          <a:prstGeom prst="rect">
            <a:avLst/>
          </a:prstGeom>
          <a:noFill/>
          <a:ln/>
        </p:spPr>
        <p:txBody>
          <a:bodyPr wrap="square" rtlCol="0" anchor="ctr"/>
          <a:lstStyle/>
          <a:p>
            <a:pPr indent="0" marL="0">
              <a:buNone/>
            </a:pPr>
            <a:r>
              <a:rPr lang="en-US" sz="1300" dirty="0">
                <a:solidFill>
                  <a:srgbClr val="9BA3AF"/>
                </a:solidFill>
                <a:latin typeface="Calibri" pitchFamily="34" charset="0"/>
                <a:ea typeface="Calibri" pitchFamily="34" charset="-122"/>
                <a:cs typeface="Calibri" pitchFamily="34" charset="-120"/>
              </a:rPr>
              <a:t>Not real-time</a:t>
            </a:r>
            <a:endParaRPr lang="en-US" sz="1300" dirty="0"/>
          </a:p>
        </p:txBody>
      </p:sp>
      <p:sp>
        <p:nvSpPr>
          <p:cNvPr id="29" name="Shape 27"/>
          <p:cNvSpPr/>
          <p:nvPr/>
        </p:nvSpPr>
        <p:spPr>
          <a:xfrm>
            <a:off x="640080" y="5989320"/>
            <a:ext cx="10881360" cy="594360"/>
          </a:xfrm>
          <a:prstGeom prst="roundRect">
            <a:avLst>
              <a:gd name="adj" fmla="val 12308"/>
            </a:avLst>
          </a:prstGeom>
          <a:solidFill>
            <a:srgbClr val="132A1D"/>
          </a:solidFill>
          <a:ln w="12700">
            <a:solidFill>
              <a:srgbClr val="30D158"/>
            </a:solidFill>
            <a:prstDash val="solid"/>
          </a:ln>
        </p:spPr>
      </p:sp>
      <p:sp>
        <p:nvSpPr>
          <p:cNvPr id="30" name="Text 28"/>
          <p:cNvSpPr/>
          <p:nvPr/>
        </p:nvSpPr>
        <p:spPr>
          <a:xfrm>
            <a:off x="868680" y="5989320"/>
            <a:ext cx="10424160" cy="594360"/>
          </a:xfrm>
          <a:prstGeom prst="rect">
            <a:avLst/>
          </a:prstGeom>
          <a:noFill/>
          <a:ln/>
        </p:spPr>
        <p:txBody>
          <a:bodyPr wrap="square" rtlCol="0" anchor="ctr"/>
          <a:lstStyle/>
          <a:p>
            <a:pPr indent="0" marL="0">
              <a:buNone/>
            </a:pPr>
            <a:r>
              <a:rPr lang="en-US" sz="1300" i="1" dirty="0">
                <a:solidFill>
                  <a:srgbClr val="30D158"/>
                </a:solidFill>
                <a:latin typeface="Calibri" pitchFamily="34" charset="0"/>
                <a:ea typeface="Calibri" pitchFamily="34" charset="-122"/>
                <a:cs typeface="Calibri" pitchFamily="34" charset="-120"/>
              </a:rPr>
              <a:t>No published or shipped platform combines all of the above under one accessible, explained experience.</a:t>
            </a:r>
            <a:endParaRPr lang="en-US" sz="1300" dirty="0"/>
          </a:p>
        </p:txBody>
      </p:sp>
      <p:sp>
        <p:nvSpPr>
          <p:cNvPr id="31" name="Text 29"/>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30D158"/>
                </a:solidFill>
                <a:latin typeface="Courier New" pitchFamily="34" charset="0"/>
                <a:ea typeface="Courier New" pitchFamily="34" charset="-122"/>
                <a:cs typeface="Courier New" pitchFamily="34" charset="-120"/>
              </a:rPr>
              <a:t>THE PLATFORM</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DOBERMAN — nine capabilities, one watchdog</a:t>
            </a:r>
            <a:endParaRPr lang="en-US" sz="3000" dirty="0"/>
          </a:p>
        </p:txBody>
      </p:sp>
      <p:sp>
        <p:nvSpPr>
          <p:cNvPr id="4" name="Shape 2"/>
          <p:cNvSpPr/>
          <p:nvPr/>
        </p:nvSpPr>
        <p:spPr>
          <a:xfrm>
            <a:off x="640080" y="1874520"/>
            <a:ext cx="3429000" cy="1234440"/>
          </a:xfrm>
          <a:prstGeom prst="roundRect">
            <a:avLst>
              <a:gd name="adj" fmla="val 7407"/>
            </a:avLst>
          </a:prstGeom>
          <a:solidFill>
            <a:srgbClr val="1B1F29"/>
          </a:solidFill>
          <a:ln/>
        </p:spPr>
      </p:sp>
      <p:sp>
        <p:nvSpPr>
          <p:cNvPr id="5" name="Shape 3"/>
          <p:cNvSpPr/>
          <p:nvPr/>
        </p:nvSpPr>
        <p:spPr>
          <a:xfrm>
            <a:off x="841248" y="2240280"/>
            <a:ext cx="502920" cy="502920"/>
          </a:xfrm>
          <a:prstGeom prst="oval">
            <a:avLst/>
          </a:prstGeom>
          <a:solidFill>
            <a:srgbClr val="13161D"/>
          </a:solidFill>
          <a:ln w="12700">
            <a:solidFill>
              <a:srgbClr val="FF3B30"/>
            </a:solidFill>
            <a:prstDash val="solid"/>
          </a:ln>
        </p:spPr>
      </p:sp>
      <p:pic>
        <p:nvPicPr>
          <p:cNvPr id="6" name="Image 0" descr="/home/user/DOBERMAN-/.eval-scripts/pptx-build/icons/eye-FF3B30.png">    </p:cNvPr>
          <p:cNvPicPr>
            <a:picLocks noChangeAspect="1"/>
          </p:cNvPicPr>
          <p:nvPr/>
        </p:nvPicPr>
        <p:blipFill>
          <a:blip r:embed="rId1"/>
          <a:stretch>
            <a:fillRect/>
          </a:stretch>
        </p:blipFill>
        <p:spPr>
          <a:xfrm>
            <a:off x="960120" y="2354580"/>
            <a:ext cx="274320" cy="274320"/>
          </a:xfrm>
          <a:prstGeom prst="rect">
            <a:avLst/>
          </a:prstGeom>
        </p:spPr>
      </p:pic>
      <p:sp>
        <p:nvSpPr>
          <p:cNvPr id="7" name="Text 4"/>
          <p:cNvSpPr/>
          <p:nvPr/>
        </p:nvSpPr>
        <p:spPr>
          <a:xfrm>
            <a:off x="1554480" y="2057400"/>
            <a:ext cx="2377440" cy="411480"/>
          </a:xfrm>
          <a:prstGeom prst="rect">
            <a:avLst/>
          </a:prstGeom>
          <a:noFill/>
          <a:ln/>
        </p:spPr>
        <p:txBody>
          <a:bodyPr wrap="square" rtlCol="0" anchor="b"/>
          <a:lstStyle/>
          <a:p>
            <a:pPr indent="0" marL="0">
              <a:buNone/>
            </a:pPr>
            <a:r>
              <a:rPr lang="en-US" sz="1500" b="1" dirty="0">
                <a:solidFill>
                  <a:srgbClr val="FFFFFF"/>
                </a:solidFill>
                <a:latin typeface="Calibri" pitchFamily="34" charset="0"/>
                <a:ea typeface="Calibri" pitchFamily="34" charset="-122"/>
                <a:cs typeface="Calibri" pitchFamily="34" charset="-120"/>
              </a:rPr>
              <a:t>EYES</a:t>
            </a:r>
            <a:endParaRPr lang="en-US" sz="1500" dirty="0"/>
          </a:p>
        </p:txBody>
      </p:sp>
      <p:sp>
        <p:nvSpPr>
          <p:cNvPr id="8" name="Text 5"/>
          <p:cNvSpPr/>
          <p:nvPr/>
        </p:nvSpPr>
        <p:spPr>
          <a:xfrm>
            <a:off x="1554480" y="2468880"/>
            <a:ext cx="2377440" cy="457200"/>
          </a:xfrm>
          <a:prstGeom prst="rect">
            <a:avLst/>
          </a:prstGeom>
          <a:noFill/>
          <a:ln/>
        </p:spPr>
        <p:txBody>
          <a:bodyPr wrap="square" rtlCol="0" anchor="t"/>
          <a:lstStyle/>
          <a:p>
            <a:pPr indent="0" marL="0">
              <a:buNone/>
            </a:pPr>
            <a:r>
              <a:rPr lang="en-US" sz="1100" dirty="0">
                <a:solidFill>
                  <a:srgbClr val="9BA3AF"/>
                </a:solidFill>
                <a:latin typeface="Calibri" pitchFamily="34" charset="0"/>
                <a:ea typeface="Calibri" pitchFamily="34" charset="-122"/>
                <a:cs typeface="Calibri" pitchFamily="34" charset="-120"/>
              </a:rPr>
              <a:t>Deepfake detection</a:t>
            </a:r>
            <a:endParaRPr lang="en-US" sz="1100" dirty="0"/>
          </a:p>
        </p:txBody>
      </p:sp>
      <p:sp>
        <p:nvSpPr>
          <p:cNvPr id="9" name="Shape 6"/>
          <p:cNvSpPr/>
          <p:nvPr/>
        </p:nvSpPr>
        <p:spPr>
          <a:xfrm>
            <a:off x="4206240" y="1874520"/>
            <a:ext cx="3429000" cy="1234440"/>
          </a:xfrm>
          <a:prstGeom prst="roundRect">
            <a:avLst>
              <a:gd name="adj" fmla="val 7407"/>
            </a:avLst>
          </a:prstGeom>
          <a:solidFill>
            <a:srgbClr val="1B1F29"/>
          </a:solidFill>
          <a:ln/>
        </p:spPr>
      </p:sp>
      <p:sp>
        <p:nvSpPr>
          <p:cNvPr id="10" name="Shape 7"/>
          <p:cNvSpPr/>
          <p:nvPr/>
        </p:nvSpPr>
        <p:spPr>
          <a:xfrm>
            <a:off x="4407408" y="2240280"/>
            <a:ext cx="502920" cy="502920"/>
          </a:xfrm>
          <a:prstGeom prst="oval">
            <a:avLst/>
          </a:prstGeom>
          <a:solidFill>
            <a:srgbClr val="13161D"/>
          </a:solidFill>
          <a:ln w="12700">
            <a:solidFill>
              <a:srgbClr val="BF5AF2"/>
            </a:solidFill>
            <a:prstDash val="solid"/>
          </a:ln>
        </p:spPr>
      </p:sp>
      <p:pic>
        <p:nvPicPr>
          <p:cNvPr id="11" name="Image 1" descr="/home/user/DOBERMAN-/.eval-scripts/pptx-build/icons/mic-BF5AF2.png">    </p:cNvPr>
          <p:cNvPicPr>
            <a:picLocks noChangeAspect="1"/>
          </p:cNvPicPr>
          <p:nvPr/>
        </p:nvPicPr>
        <p:blipFill>
          <a:blip r:embed="rId2"/>
          <a:stretch>
            <a:fillRect/>
          </a:stretch>
        </p:blipFill>
        <p:spPr>
          <a:xfrm>
            <a:off x="4526280" y="2354580"/>
            <a:ext cx="274320" cy="274320"/>
          </a:xfrm>
          <a:prstGeom prst="rect">
            <a:avLst/>
          </a:prstGeom>
        </p:spPr>
      </p:pic>
      <p:sp>
        <p:nvSpPr>
          <p:cNvPr id="12" name="Text 8"/>
          <p:cNvSpPr/>
          <p:nvPr/>
        </p:nvSpPr>
        <p:spPr>
          <a:xfrm>
            <a:off x="5120640" y="2057400"/>
            <a:ext cx="2377440" cy="411480"/>
          </a:xfrm>
          <a:prstGeom prst="rect">
            <a:avLst/>
          </a:prstGeom>
          <a:noFill/>
          <a:ln/>
        </p:spPr>
        <p:txBody>
          <a:bodyPr wrap="square" rtlCol="0" anchor="b"/>
          <a:lstStyle/>
          <a:p>
            <a:pPr indent="0" marL="0">
              <a:buNone/>
            </a:pPr>
            <a:r>
              <a:rPr lang="en-US" sz="1500" b="1" dirty="0">
                <a:solidFill>
                  <a:srgbClr val="FFFFFF"/>
                </a:solidFill>
                <a:latin typeface="Calibri" pitchFamily="34" charset="0"/>
                <a:ea typeface="Calibri" pitchFamily="34" charset="-122"/>
                <a:cs typeface="Calibri" pitchFamily="34" charset="-120"/>
              </a:rPr>
              <a:t>Voice Intel</a:t>
            </a:r>
            <a:endParaRPr lang="en-US" sz="1500" dirty="0"/>
          </a:p>
        </p:txBody>
      </p:sp>
      <p:sp>
        <p:nvSpPr>
          <p:cNvPr id="13" name="Text 9"/>
          <p:cNvSpPr/>
          <p:nvPr/>
        </p:nvSpPr>
        <p:spPr>
          <a:xfrm>
            <a:off x="5120640" y="2468880"/>
            <a:ext cx="2377440" cy="457200"/>
          </a:xfrm>
          <a:prstGeom prst="rect">
            <a:avLst/>
          </a:prstGeom>
          <a:noFill/>
          <a:ln/>
        </p:spPr>
        <p:txBody>
          <a:bodyPr wrap="square" rtlCol="0" anchor="t"/>
          <a:lstStyle/>
          <a:p>
            <a:pPr indent="0" marL="0">
              <a:buNone/>
            </a:pPr>
            <a:r>
              <a:rPr lang="en-US" sz="1100" dirty="0">
                <a:solidFill>
                  <a:srgbClr val="9BA3AF"/>
                </a:solidFill>
                <a:latin typeface="Calibri" pitchFamily="34" charset="0"/>
                <a:ea typeface="Calibri" pitchFamily="34" charset="-122"/>
                <a:cs typeface="Calibri" pitchFamily="34" charset="-120"/>
              </a:rPr>
              <a:t>Clone / manipulation</a:t>
            </a:r>
            <a:endParaRPr lang="en-US" sz="1100" dirty="0"/>
          </a:p>
        </p:txBody>
      </p:sp>
      <p:sp>
        <p:nvSpPr>
          <p:cNvPr id="14" name="Shape 10"/>
          <p:cNvSpPr/>
          <p:nvPr/>
        </p:nvSpPr>
        <p:spPr>
          <a:xfrm>
            <a:off x="7772400" y="1874520"/>
            <a:ext cx="3429000" cy="1234440"/>
          </a:xfrm>
          <a:prstGeom prst="roundRect">
            <a:avLst>
              <a:gd name="adj" fmla="val 7407"/>
            </a:avLst>
          </a:prstGeom>
          <a:solidFill>
            <a:srgbClr val="1B1F29"/>
          </a:solidFill>
          <a:ln/>
        </p:spPr>
      </p:sp>
      <p:sp>
        <p:nvSpPr>
          <p:cNvPr id="15" name="Shape 11"/>
          <p:cNvSpPr/>
          <p:nvPr/>
        </p:nvSpPr>
        <p:spPr>
          <a:xfrm>
            <a:off x="7973568" y="2240280"/>
            <a:ext cx="502920" cy="502920"/>
          </a:xfrm>
          <a:prstGeom prst="oval">
            <a:avLst/>
          </a:prstGeom>
          <a:solidFill>
            <a:srgbClr val="13161D"/>
          </a:solidFill>
          <a:ln w="12700">
            <a:solidFill>
              <a:srgbClr val="0A84FF"/>
            </a:solidFill>
            <a:prstDash val="solid"/>
          </a:ln>
        </p:spPr>
      </p:sp>
      <p:pic>
        <p:nvPicPr>
          <p:cNvPr id="16" name="Image 2" descr="/home/user/DOBERMAN-/.eval-scripts/pptx-build/icons/file-0A84FF.png">    </p:cNvPr>
          <p:cNvPicPr>
            <a:picLocks noChangeAspect="1"/>
          </p:cNvPicPr>
          <p:nvPr/>
        </p:nvPicPr>
        <p:blipFill>
          <a:blip r:embed="rId3"/>
          <a:stretch>
            <a:fillRect/>
          </a:stretch>
        </p:blipFill>
        <p:spPr>
          <a:xfrm>
            <a:off x="8092440" y="2354580"/>
            <a:ext cx="274320" cy="274320"/>
          </a:xfrm>
          <a:prstGeom prst="rect">
            <a:avLst/>
          </a:prstGeom>
        </p:spPr>
      </p:pic>
      <p:sp>
        <p:nvSpPr>
          <p:cNvPr id="17" name="Text 12"/>
          <p:cNvSpPr/>
          <p:nvPr/>
        </p:nvSpPr>
        <p:spPr>
          <a:xfrm>
            <a:off x="8686800" y="2057400"/>
            <a:ext cx="2377440" cy="411480"/>
          </a:xfrm>
          <a:prstGeom prst="rect">
            <a:avLst/>
          </a:prstGeom>
          <a:noFill/>
          <a:ln/>
        </p:spPr>
        <p:txBody>
          <a:bodyPr wrap="square" rtlCol="0" anchor="b"/>
          <a:lstStyle/>
          <a:p>
            <a:pPr indent="0" marL="0">
              <a:buNone/>
            </a:pPr>
            <a:r>
              <a:rPr lang="en-US" sz="1500" b="1" dirty="0">
                <a:solidFill>
                  <a:srgbClr val="FFFFFF"/>
                </a:solidFill>
                <a:latin typeface="Calibri" pitchFamily="34" charset="0"/>
                <a:ea typeface="Calibri" pitchFamily="34" charset="-122"/>
                <a:cs typeface="Calibri" pitchFamily="34" charset="-120"/>
              </a:rPr>
              <a:t>Text AI-Detect</a:t>
            </a:r>
            <a:endParaRPr lang="en-US" sz="1500" dirty="0"/>
          </a:p>
        </p:txBody>
      </p:sp>
      <p:sp>
        <p:nvSpPr>
          <p:cNvPr id="18" name="Text 13"/>
          <p:cNvSpPr/>
          <p:nvPr/>
        </p:nvSpPr>
        <p:spPr>
          <a:xfrm>
            <a:off x="8686800" y="2468880"/>
            <a:ext cx="2377440" cy="457200"/>
          </a:xfrm>
          <a:prstGeom prst="rect">
            <a:avLst/>
          </a:prstGeom>
          <a:noFill/>
          <a:ln/>
        </p:spPr>
        <p:txBody>
          <a:bodyPr wrap="square" rtlCol="0" anchor="t"/>
          <a:lstStyle/>
          <a:p>
            <a:pPr indent="0" marL="0">
              <a:buNone/>
            </a:pPr>
            <a:r>
              <a:rPr lang="en-US" sz="1100" dirty="0">
                <a:solidFill>
                  <a:srgbClr val="9BA3AF"/>
                </a:solidFill>
                <a:latin typeface="Calibri" pitchFamily="34" charset="0"/>
                <a:ea typeface="Calibri" pitchFamily="34" charset="-122"/>
                <a:cs typeface="Calibri" pitchFamily="34" charset="-120"/>
              </a:rPr>
              <a:t>Stylometric signals</a:t>
            </a:r>
            <a:endParaRPr lang="en-US" sz="1100" dirty="0"/>
          </a:p>
        </p:txBody>
      </p:sp>
      <p:sp>
        <p:nvSpPr>
          <p:cNvPr id="19" name="Shape 14"/>
          <p:cNvSpPr/>
          <p:nvPr/>
        </p:nvSpPr>
        <p:spPr>
          <a:xfrm>
            <a:off x="640080" y="3273552"/>
            <a:ext cx="3429000" cy="1234440"/>
          </a:xfrm>
          <a:prstGeom prst="roundRect">
            <a:avLst>
              <a:gd name="adj" fmla="val 7407"/>
            </a:avLst>
          </a:prstGeom>
          <a:solidFill>
            <a:srgbClr val="1B1F29"/>
          </a:solidFill>
          <a:ln/>
        </p:spPr>
      </p:sp>
      <p:sp>
        <p:nvSpPr>
          <p:cNvPr id="20" name="Shape 15"/>
          <p:cNvSpPr/>
          <p:nvPr/>
        </p:nvSpPr>
        <p:spPr>
          <a:xfrm>
            <a:off x="841248" y="3639312"/>
            <a:ext cx="502920" cy="502920"/>
          </a:xfrm>
          <a:prstGeom prst="oval">
            <a:avLst/>
          </a:prstGeom>
          <a:solidFill>
            <a:srgbClr val="13161D"/>
          </a:solidFill>
          <a:ln w="12700">
            <a:solidFill>
              <a:srgbClr val="FF9F0A"/>
            </a:solidFill>
            <a:prstDash val="solid"/>
          </a:ln>
        </p:spPr>
      </p:sp>
      <p:pic>
        <p:nvPicPr>
          <p:cNvPr id="21" name="Image 3" descr="/home/user/DOBERMAN-/.eval-scripts/pptx-build/icons/wifi-FF9F0A.png">    </p:cNvPr>
          <p:cNvPicPr>
            <a:picLocks noChangeAspect="1"/>
          </p:cNvPicPr>
          <p:nvPr/>
        </p:nvPicPr>
        <p:blipFill>
          <a:blip r:embed="rId4"/>
          <a:stretch>
            <a:fillRect/>
          </a:stretch>
        </p:blipFill>
        <p:spPr>
          <a:xfrm>
            <a:off x="960120" y="3753612"/>
            <a:ext cx="274320" cy="274320"/>
          </a:xfrm>
          <a:prstGeom prst="rect">
            <a:avLst/>
          </a:prstGeom>
        </p:spPr>
      </p:pic>
      <p:sp>
        <p:nvSpPr>
          <p:cNvPr id="22" name="Text 16"/>
          <p:cNvSpPr/>
          <p:nvPr/>
        </p:nvSpPr>
        <p:spPr>
          <a:xfrm>
            <a:off x="1554480" y="3456432"/>
            <a:ext cx="2377440" cy="411480"/>
          </a:xfrm>
          <a:prstGeom prst="rect">
            <a:avLst/>
          </a:prstGeom>
          <a:noFill/>
          <a:ln/>
        </p:spPr>
        <p:txBody>
          <a:bodyPr wrap="square" rtlCol="0" anchor="b"/>
          <a:lstStyle/>
          <a:p>
            <a:pPr indent="0" marL="0">
              <a:buNone/>
            </a:pPr>
            <a:r>
              <a:rPr lang="en-US" sz="1500" b="1" dirty="0">
                <a:solidFill>
                  <a:srgbClr val="FFFFFF"/>
                </a:solidFill>
                <a:latin typeface="Calibri" pitchFamily="34" charset="0"/>
                <a:ea typeface="Calibri" pitchFamily="34" charset="-122"/>
                <a:cs typeface="Calibri" pitchFamily="34" charset="-120"/>
              </a:rPr>
              <a:t>NOSE</a:t>
            </a:r>
            <a:endParaRPr lang="en-US" sz="1500" dirty="0"/>
          </a:p>
        </p:txBody>
      </p:sp>
      <p:sp>
        <p:nvSpPr>
          <p:cNvPr id="23" name="Text 17"/>
          <p:cNvSpPr/>
          <p:nvPr/>
        </p:nvSpPr>
        <p:spPr>
          <a:xfrm>
            <a:off x="1554480" y="3867912"/>
            <a:ext cx="2377440" cy="457200"/>
          </a:xfrm>
          <a:prstGeom prst="rect">
            <a:avLst/>
          </a:prstGeom>
          <a:noFill/>
          <a:ln/>
        </p:spPr>
        <p:txBody>
          <a:bodyPr wrap="square" rtlCol="0" anchor="t"/>
          <a:lstStyle/>
          <a:p>
            <a:pPr indent="0" marL="0">
              <a:buNone/>
            </a:pPr>
            <a:r>
              <a:rPr lang="en-US" sz="1100" dirty="0">
                <a:solidFill>
                  <a:srgbClr val="9BA3AF"/>
                </a:solidFill>
                <a:latin typeface="Calibri" pitchFamily="34" charset="0"/>
                <a:ea typeface="Calibri" pitchFamily="34" charset="-122"/>
                <a:cs typeface="Calibri" pitchFamily="34" charset="-120"/>
              </a:rPr>
              <a:t>IoT risk triage</a:t>
            </a:r>
            <a:endParaRPr lang="en-US" sz="1100" dirty="0"/>
          </a:p>
        </p:txBody>
      </p:sp>
      <p:sp>
        <p:nvSpPr>
          <p:cNvPr id="24" name="Shape 18"/>
          <p:cNvSpPr/>
          <p:nvPr/>
        </p:nvSpPr>
        <p:spPr>
          <a:xfrm>
            <a:off x="4206240" y="3273552"/>
            <a:ext cx="3429000" cy="1234440"/>
          </a:xfrm>
          <a:prstGeom prst="roundRect">
            <a:avLst>
              <a:gd name="adj" fmla="val 7407"/>
            </a:avLst>
          </a:prstGeom>
          <a:solidFill>
            <a:srgbClr val="1B1F29"/>
          </a:solidFill>
          <a:ln/>
        </p:spPr>
      </p:sp>
      <p:sp>
        <p:nvSpPr>
          <p:cNvPr id="25" name="Shape 19"/>
          <p:cNvSpPr/>
          <p:nvPr/>
        </p:nvSpPr>
        <p:spPr>
          <a:xfrm>
            <a:off x="4407408" y="3639312"/>
            <a:ext cx="502920" cy="502920"/>
          </a:xfrm>
          <a:prstGeom prst="oval">
            <a:avLst/>
          </a:prstGeom>
          <a:solidFill>
            <a:srgbClr val="13161D"/>
          </a:solidFill>
          <a:ln w="12700">
            <a:solidFill>
              <a:srgbClr val="30D158"/>
            </a:solidFill>
            <a:prstDash val="solid"/>
          </a:ln>
        </p:spPr>
      </p:sp>
      <p:pic>
        <p:nvPicPr>
          <p:cNvPr id="26" name="Image 4" descr="/home/user/DOBERMAN-/.eval-scripts/pptx-build/icons/key-30D158.png">    </p:cNvPr>
          <p:cNvPicPr>
            <a:picLocks noChangeAspect="1"/>
          </p:cNvPicPr>
          <p:nvPr/>
        </p:nvPicPr>
        <p:blipFill>
          <a:blip r:embed="rId5"/>
          <a:stretch>
            <a:fillRect/>
          </a:stretch>
        </p:blipFill>
        <p:spPr>
          <a:xfrm>
            <a:off x="4526280" y="3753612"/>
            <a:ext cx="274320" cy="274320"/>
          </a:xfrm>
          <a:prstGeom prst="rect">
            <a:avLst/>
          </a:prstGeom>
        </p:spPr>
      </p:pic>
      <p:sp>
        <p:nvSpPr>
          <p:cNvPr id="27" name="Text 20"/>
          <p:cNvSpPr/>
          <p:nvPr/>
        </p:nvSpPr>
        <p:spPr>
          <a:xfrm>
            <a:off x="5120640" y="3456432"/>
            <a:ext cx="2377440" cy="411480"/>
          </a:xfrm>
          <a:prstGeom prst="rect">
            <a:avLst/>
          </a:prstGeom>
          <a:noFill/>
          <a:ln/>
        </p:spPr>
        <p:txBody>
          <a:bodyPr wrap="square" rtlCol="0" anchor="b"/>
          <a:lstStyle/>
          <a:p>
            <a:pPr indent="0" marL="0">
              <a:buNone/>
            </a:pPr>
            <a:r>
              <a:rPr lang="en-US" sz="1500" b="1" dirty="0">
                <a:solidFill>
                  <a:srgbClr val="FFFFFF"/>
                </a:solidFill>
                <a:latin typeface="Calibri" pitchFamily="34" charset="0"/>
                <a:ea typeface="Calibri" pitchFamily="34" charset="-122"/>
                <a:cs typeface="Calibri" pitchFamily="34" charset="-120"/>
              </a:rPr>
              <a:t>Breach Detect</a:t>
            </a:r>
            <a:endParaRPr lang="en-US" sz="1500" dirty="0"/>
          </a:p>
        </p:txBody>
      </p:sp>
      <p:sp>
        <p:nvSpPr>
          <p:cNvPr id="28" name="Text 21"/>
          <p:cNvSpPr/>
          <p:nvPr/>
        </p:nvSpPr>
        <p:spPr>
          <a:xfrm>
            <a:off x="5120640" y="3867912"/>
            <a:ext cx="2377440" cy="457200"/>
          </a:xfrm>
          <a:prstGeom prst="rect">
            <a:avLst/>
          </a:prstGeom>
          <a:noFill/>
          <a:ln/>
        </p:spPr>
        <p:txBody>
          <a:bodyPr wrap="square" rtlCol="0" anchor="t"/>
          <a:lstStyle/>
          <a:p>
            <a:pPr indent="0" marL="0">
              <a:buNone/>
            </a:pPr>
            <a:r>
              <a:rPr lang="en-US" sz="1100" dirty="0">
                <a:solidFill>
                  <a:srgbClr val="9BA3AF"/>
                </a:solidFill>
                <a:latin typeface="Calibri" pitchFamily="34" charset="0"/>
                <a:ea typeface="Calibri" pitchFamily="34" charset="-122"/>
                <a:cs typeface="Calibri" pitchFamily="34" charset="-120"/>
              </a:rPr>
              <a:t>HIBP + k-anonymity</a:t>
            </a:r>
            <a:endParaRPr lang="en-US" sz="1100" dirty="0"/>
          </a:p>
        </p:txBody>
      </p:sp>
      <p:sp>
        <p:nvSpPr>
          <p:cNvPr id="29" name="Shape 22"/>
          <p:cNvSpPr/>
          <p:nvPr/>
        </p:nvSpPr>
        <p:spPr>
          <a:xfrm>
            <a:off x="7772400" y="3273552"/>
            <a:ext cx="3429000" cy="1234440"/>
          </a:xfrm>
          <a:prstGeom prst="roundRect">
            <a:avLst>
              <a:gd name="adj" fmla="val 7407"/>
            </a:avLst>
          </a:prstGeom>
          <a:solidFill>
            <a:srgbClr val="1B1F29"/>
          </a:solidFill>
          <a:ln/>
        </p:spPr>
      </p:sp>
      <p:sp>
        <p:nvSpPr>
          <p:cNvPr id="30" name="Shape 23"/>
          <p:cNvSpPr/>
          <p:nvPr/>
        </p:nvSpPr>
        <p:spPr>
          <a:xfrm>
            <a:off x="7973568" y="3639312"/>
            <a:ext cx="502920" cy="502920"/>
          </a:xfrm>
          <a:prstGeom prst="oval">
            <a:avLst/>
          </a:prstGeom>
          <a:solidFill>
            <a:srgbClr val="13161D"/>
          </a:solidFill>
          <a:ln w="12700">
            <a:solidFill>
              <a:srgbClr val="FF3B30"/>
            </a:solidFill>
            <a:prstDash val="solid"/>
          </a:ln>
        </p:spPr>
      </p:sp>
      <p:pic>
        <p:nvPicPr>
          <p:cNvPr id="31" name="Image 5" descr="/home/user/DOBERMAN-/.eval-scripts/pptx-build/icons/link-FF3B30.png">    </p:cNvPr>
          <p:cNvPicPr>
            <a:picLocks noChangeAspect="1"/>
          </p:cNvPicPr>
          <p:nvPr/>
        </p:nvPicPr>
        <p:blipFill>
          <a:blip r:embed="rId6"/>
          <a:stretch>
            <a:fillRect/>
          </a:stretch>
        </p:blipFill>
        <p:spPr>
          <a:xfrm>
            <a:off x="8092440" y="3753612"/>
            <a:ext cx="274320" cy="274320"/>
          </a:xfrm>
          <a:prstGeom prst="rect">
            <a:avLst/>
          </a:prstGeom>
        </p:spPr>
      </p:pic>
      <p:sp>
        <p:nvSpPr>
          <p:cNvPr id="32" name="Text 24"/>
          <p:cNvSpPr/>
          <p:nvPr/>
        </p:nvSpPr>
        <p:spPr>
          <a:xfrm>
            <a:off x="8686800" y="3456432"/>
            <a:ext cx="2377440" cy="411480"/>
          </a:xfrm>
          <a:prstGeom prst="rect">
            <a:avLst/>
          </a:prstGeom>
          <a:noFill/>
          <a:ln/>
        </p:spPr>
        <p:txBody>
          <a:bodyPr wrap="square" rtlCol="0" anchor="b"/>
          <a:lstStyle/>
          <a:p>
            <a:pPr indent="0" marL="0">
              <a:buNone/>
            </a:pPr>
            <a:r>
              <a:rPr lang="en-US" sz="1500" b="1" dirty="0">
                <a:solidFill>
                  <a:srgbClr val="FFFFFF"/>
                </a:solidFill>
                <a:latin typeface="Calibri" pitchFamily="34" charset="0"/>
                <a:ea typeface="Calibri" pitchFamily="34" charset="-122"/>
                <a:cs typeface="Calibri" pitchFamily="34" charset="-120"/>
              </a:rPr>
              <a:t>Scam Link</a:t>
            </a:r>
            <a:endParaRPr lang="en-US" sz="1500" dirty="0"/>
          </a:p>
        </p:txBody>
      </p:sp>
      <p:sp>
        <p:nvSpPr>
          <p:cNvPr id="33" name="Text 25"/>
          <p:cNvSpPr/>
          <p:nvPr/>
        </p:nvSpPr>
        <p:spPr>
          <a:xfrm>
            <a:off x="8686800" y="3867912"/>
            <a:ext cx="2377440" cy="457200"/>
          </a:xfrm>
          <a:prstGeom prst="rect">
            <a:avLst/>
          </a:prstGeom>
          <a:noFill/>
          <a:ln/>
        </p:spPr>
        <p:txBody>
          <a:bodyPr wrap="square" rtlCol="0" anchor="t"/>
          <a:lstStyle/>
          <a:p>
            <a:pPr indent="0" marL="0">
              <a:buNone/>
            </a:pPr>
            <a:r>
              <a:rPr lang="en-US" sz="1100" dirty="0">
                <a:solidFill>
                  <a:srgbClr val="9BA3AF"/>
                </a:solidFill>
                <a:latin typeface="Calibri" pitchFamily="34" charset="0"/>
                <a:ea typeface="Calibri" pitchFamily="34" charset="-122"/>
                <a:cs typeface="Calibri" pitchFamily="34" charset="-120"/>
              </a:rPr>
              <a:t>Phishing scoring</a:t>
            </a:r>
            <a:endParaRPr lang="en-US" sz="1100" dirty="0"/>
          </a:p>
        </p:txBody>
      </p:sp>
      <p:sp>
        <p:nvSpPr>
          <p:cNvPr id="34" name="Shape 26"/>
          <p:cNvSpPr/>
          <p:nvPr/>
        </p:nvSpPr>
        <p:spPr>
          <a:xfrm>
            <a:off x="640080" y="4672584"/>
            <a:ext cx="3429000" cy="1234440"/>
          </a:xfrm>
          <a:prstGeom prst="roundRect">
            <a:avLst>
              <a:gd name="adj" fmla="val 7407"/>
            </a:avLst>
          </a:prstGeom>
          <a:solidFill>
            <a:srgbClr val="1B1F29"/>
          </a:solidFill>
          <a:ln/>
        </p:spPr>
      </p:sp>
      <p:sp>
        <p:nvSpPr>
          <p:cNvPr id="35" name="Shape 27"/>
          <p:cNvSpPr/>
          <p:nvPr/>
        </p:nvSpPr>
        <p:spPr>
          <a:xfrm>
            <a:off x="841248" y="5038344"/>
            <a:ext cx="502920" cy="502920"/>
          </a:xfrm>
          <a:prstGeom prst="oval">
            <a:avLst/>
          </a:prstGeom>
          <a:solidFill>
            <a:srgbClr val="13161D"/>
          </a:solidFill>
          <a:ln w="12700">
            <a:solidFill>
              <a:srgbClr val="0A84FF"/>
            </a:solidFill>
            <a:prstDash val="solid"/>
          </a:ln>
        </p:spPr>
      </p:sp>
      <p:pic>
        <p:nvPicPr>
          <p:cNvPr id="36" name="Image 6" descr="/home/user/DOBERMAN-/.eval-scripts/pptx-build/icons/newspaper-0A84FF.png">    </p:cNvPr>
          <p:cNvPicPr>
            <a:picLocks noChangeAspect="1"/>
          </p:cNvPicPr>
          <p:nvPr/>
        </p:nvPicPr>
        <p:blipFill>
          <a:blip r:embed="rId7"/>
          <a:stretch>
            <a:fillRect/>
          </a:stretch>
        </p:blipFill>
        <p:spPr>
          <a:xfrm>
            <a:off x="960120" y="5152644"/>
            <a:ext cx="274320" cy="274320"/>
          </a:xfrm>
          <a:prstGeom prst="rect">
            <a:avLst/>
          </a:prstGeom>
        </p:spPr>
      </p:pic>
      <p:sp>
        <p:nvSpPr>
          <p:cNvPr id="37" name="Text 28"/>
          <p:cNvSpPr/>
          <p:nvPr/>
        </p:nvSpPr>
        <p:spPr>
          <a:xfrm>
            <a:off x="1554480" y="4855464"/>
            <a:ext cx="2377440" cy="411480"/>
          </a:xfrm>
          <a:prstGeom prst="rect">
            <a:avLst/>
          </a:prstGeom>
          <a:noFill/>
          <a:ln/>
        </p:spPr>
        <p:txBody>
          <a:bodyPr wrap="square" rtlCol="0" anchor="b"/>
          <a:lstStyle/>
          <a:p>
            <a:pPr indent="0" marL="0">
              <a:buNone/>
            </a:pPr>
            <a:r>
              <a:rPr lang="en-US" sz="1500" b="1" dirty="0">
                <a:solidFill>
                  <a:srgbClr val="FFFFFF"/>
                </a:solidFill>
                <a:latin typeface="Calibri" pitchFamily="34" charset="0"/>
                <a:ea typeface="Calibri" pitchFamily="34" charset="-122"/>
                <a:cs typeface="Calibri" pitchFamily="34" charset="-120"/>
              </a:rPr>
              <a:t>NEWS</a:t>
            </a:r>
            <a:endParaRPr lang="en-US" sz="1500" dirty="0"/>
          </a:p>
        </p:txBody>
      </p:sp>
      <p:sp>
        <p:nvSpPr>
          <p:cNvPr id="38" name="Text 29"/>
          <p:cNvSpPr/>
          <p:nvPr/>
        </p:nvSpPr>
        <p:spPr>
          <a:xfrm>
            <a:off x="1554480" y="5266944"/>
            <a:ext cx="2377440" cy="457200"/>
          </a:xfrm>
          <a:prstGeom prst="rect">
            <a:avLst/>
          </a:prstGeom>
          <a:noFill/>
          <a:ln/>
        </p:spPr>
        <p:txBody>
          <a:bodyPr wrap="square" rtlCol="0" anchor="t"/>
          <a:lstStyle/>
          <a:p>
            <a:pPr indent="0" marL="0">
              <a:buNone/>
            </a:pPr>
            <a:r>
              <a:rPr lang="en-US" sz="1100" dirty="0">
                <a:solidFill>
                  <a:srgbClr val="9BA3AF"/>
                </a:solidFill>
                <a:latin typeface="Calibri" pitchFamily="34" charset="0"/>
                <a:ea typeface="Calibri" pitchFamily="34" charset="-122"/>
                <a:cs typeface="Calibri" pitchFamily="34" charset="-120"/>
              </a:rPr>
              <a:t>Feed / verify / chat</a:t>
            </a:r>
            <a:endParaRPr lang="en-US" sz="1100" dirty="0"/>
          </a:p>
        </p:txBody>
      </p:sp>
      <p:sp>
        <p:nvSpPr>
          <p:cNvPr id="39" name="Shape 30"/>
          <p:cNvSpPr/>
          <p:nvPr/>
        </p:nvSpPr>
        <p:spPr>
          <a:xfrm>
            <a:off x="4206240" y="4672584"/>
            <a:ext cx="3429000" cy="1234440"/>
          </a:xfrm>
          <a:prstGeom prst="roundRect">
            <a:avLst>
              <a:gd name="adj" fmla="val 7407"/>
            </a:avLst>
          </a:prstGeom>
          <a:solidFill>
            <a:srgbClr val="1B1F29"/>
          </a:solidFill>
          <a:ln/>
        </p:spPr>
      </p:sp>
      <p:sp>
        <p:nvSpPr>
          <p:cNvPr id="40" name="Shape 31"/>
          <p:cNvSpPr/>
          <p:nvPr/>
        </p:nvSpPr>
        <p:spPr>
          <a:xfrm>
            <a:off x="4407408" y="5038344"/>
            <a:ext cx="502920" cy="502920"/>
          </a:xfrm>
          <a:prstGeom prst="oval">
            <a:avLst/>
          </a:prstGeom>
          <a:solidFill>
            <a:srgbClr val="13161D"/>
          </a:solidFill>
          <a:ln w="12700">
            <a:solidFill>
              <a:srgbClr val="BF5AF2"/>
            </a:solidFill>
            <a:prstDash val="solid"/>
          </a:ln>
        </p:spPr>
      </p:sp>
      <p:pic>
        <p:nvPicPr>
          <p:cNvPr id="41" name="Image 7" descr="/home/user/DOBERMAN-/.eval-scripts/pptx-build/icons/globe-BF5AF2.png">    </p:cNvPr>
          <p:cNvPicPr>
            <a:picLocks noChangeAspect="1"/>
          </p:cNvPicPr>
          <p:nvPr/>
        </p:nvPicPr>
        <p:blipFill>
          <a:blip r:embed="rId8"/>
          <a:stretch>
            <a:fillRect/>
          </a:stretch>
        </p:blipFill>
        <p:spPr>
          <a:xfrm>
            <a:off x="4526280" y="5152644"/>
            <a:ext cx="274320" cy="274320"/>
          </a:xfrm>
          <a:prstGeom prst="rect">
            <a:avLst/>
          </a:prstGeom>
        </p:spPr>
      </p:pic>
      <p:sp>
        <p:nvSpPr>
          <p:cNvPr id="42" name="Text 32"/>
          <p:cNvSpPr/>
          <p:nvPr/>
        </p:nvSpPr>
        <p:spPr>
          <a:xfrm>
            <a:off x="5120640" y="4855464"/>
            <a:ext cx="2377440" cy="411480"/>
          </a:xfrm>
          <a:prstGeom prst="rect">
            <a:avLst/>
          </a:prstGeom>
          <a:noFill/>
          <a:ln/>
        </p:spPr>
        <p:txBody>
          <a:bodyPr wrap="square" rtlCol="0" anchor="b"/>
          <a:lstStyle/>
          <a:p>
            <a:pPr indent="0" marL="0">
              <a:buNone/>
            </a:pPr>
            <a:r>
              <a:rPr lang="en-US" sz="1500" b="1" dirty="0">
                <a:solidFill>
                  <a:srgbClr val="FFFFFF"/>
                </a:solidFill>
                <a:latin typeface="Calibri" pitchFamily="34" charset="0"/>
                <a:ea typeface="Calibri" pitchFamily="34" charset="-122"/>
                <a:cs typeface="Calibri" pitchFamily="34" charset="-120"/>
              </a:rPr>
              <a:t>Cyber Globe</a:t>
            </a:r>
            <a:endParaRPr lang="en-US" sz="1500" dirty="0"/>
          </a:p>
        </p:txBody>
      </p:sp>
      <p:sp>
        <p:nvSpPr>
          <p:cNvPr id="43" name="Text 33"/>
          <p:cNvSpPr/>
          <p:nvPr/>
        </p:nvSpPr>
        <p:spPr>
          <a:xfrm>
            <a:off x="5120640" y="5266944"/>
            <a:ext cx="2377440" cy="457200"/>
          </a:xfrm>
          <a:prstGeom prst="rect">
            <a:avLst/>
          </a:prstGeom>
          <a:noFill/>
          <a:ln/>
        </p:spPr>
        <p:txBody>
          <a:bodyPr wrap="square" rtlCol="0" anchor="t"/>
          <a:lstStyle/>
          <a:p>
            <a:pPr indent="0" marL="0">
              <a:buNone/>
            </a:pPr>
            <a:r>
              <a:rPr lang="en-US" sz="1100" dirty="0">
                <a:solidFill>
                  <a:srgbClr val="9BA3AF"/>
                </a:solidFill>
                <a:latin typeface="Calibri" pitchFamily="34" charset="0"/>
                <a:ea typeface="Calibri" pitchFamily="34" charset="-122"/>
                <a:cs typeface="Calibri" pitchFamily="34" charset="-120"/>
              </a:rPr>
              <a:t>Country threat briefs</a:t>
            </a:r>
            <a:endParaRPr lang="en-US" sz="1100" dirty="0"/>
          </a:p>
        </p:txBody>
      </p:sp>
      <p:sp>
        <p:nvSpPr>
          <p:cNvPr id="44" name="Shape 34"/>
          <p:cNvSpPr/>
          <p:nvPr/>
        </p:nvSpPr>
        <p:spPr>
          <a:xfrm>
            <a:off x="7772400" y="4672584"/>
            <a:ext cx="3429000" cy="1234440"/>
          </a:xfrm>
          <a:prstGeom prst="roundRect">
            <a:avLst>
              <a:gd name="adj" fmla="val 7407"/>
            </a:avLst>
          </a:prstGeom>
          <a:solidFill>
            <a:srgbClr val="1B1F29"/>
          </a:solidFill>
          <a:ln/>
        </p:spPr>
      </p:sp>
      <p:sp>
        <p:nvSpPr>
          <p:cNvPr id="45" name="Shape 35"/>
          <p:cNvSpPr/>
          <p:nvPr/>
        </p:nvSpPr>
        <p:spPr>
          <a:xfrm>
            <a:off x="7973568" y="5038344"/>
            <a:ext cx="502920" cy="502920"/>
          </a:xfrm>
          <a:prstGeom prst="oval">
            <a:avLst/>
          </a:prstGeom>
          <a:solidFill>
            <a:srgbClr val="13161D"/>
          </a:solidFill>
          <a:ln w="12700">
            <a:solidFill>
              <a:srgbClr val="30D158"/>
            </a:solidFill>
            <a:prstDash val="solid"/>
          </a:ln>
        </p:spPr>
      </p:sp>
      <p:pic>
        <p:nvPicPr>
          <p:cNvPr id="46" name="Image 8" descr="/home/user/DOBERMAN-/.eval-scripts/pptx-build/icons/brain-30D158.png">    </p:cNvPr>
          <p:cNvPicPr>
            <a:picLocks noChangeAspect="1"/>
          </p:cNvPicPr>
          <p:nvPr/>
        </p:nvPicPr>
        <p:blipFill>
          <a:blip r:embed="rId9"/>
          <a:stretch>
            <a:fillRect/>
          </a:stretch>
        </p:blipFill>
        <p:spPr>
          <a:xfrm>
            <a:off x="8092440" y="5152644"/>
            <a:ext cx="274320" cy="274320"/>
          </a:xfrm>
          <a:prstGeom prst="rect">
            <a:avLst/>
          </a:prstGeom>
        </p:spPr>
      </p:pic>
      <p:sp>
        <p:nvSpPr>
          <p:cNvPr id="47" name="Text 36"/>
          <p:cNvSpPr/>
          <p:nvPr/>
        </p:nvSpPr>
        <p:spPr>
          <a:xfrm>
            <a:off x="8686800" y="4855464"/>
            <a:ext cx="2377440" cy="411480"/>
          </a:xfrm>
          <a:prstGeom prst="rect">
            <a:avLst/>
          </a:prstGeom>
          <a:noFill/>
          <a:ln/>
        </p:spPr>
        <p:txBody>
          <a:bodyPr wrap="square" rtlCol="0" anchor="b"/>
          <a:lstStyle/>
          <a:p>
            <a:pPr indent="0" marL="0">
              <a:buNone/>
            </a:pPr>
            <a:r>
              <a:rPr lang="en-US" sz="1500" b="1" dirty="0">
                <a:solidFill>
                  <a:srgbClr val="FFFFFF"/>
                </a:solidFill>
                <a:latin typeface="Calibri" pitchFamily="34" charset="0"/>
                <a:ea typeface="Calibri" pitchFamily="34" charset="-122"/>
                <a:cs typeface="Calibri" pitchFamily="34" charset="-120"/>
              </a:rPr>
              <a:t>DAYE</a:t>
            </a:r>
            <a:endParaRPr lang="en-US" sz="1500" dirty="0"/>
          </a:p>
        </p:txBody>
      </p:sp>
      <p:sp>
        <p:nvSpPr>
          <p:cNvPr id="48" name="Text 37"/>
          <p:cNvSpPr/>
          <p:nvPr/>
        </p:nvSpPr>
        <p:spPr>
          <a:xfrm>
            <a:off x="8686800" y="5266944"/>
            <a:ext cx="2377440" cy="457200"/>
          </a:xfrm>
          <a:prstGeom prst="rect">
            <a:avLst/>
          </a:prstGeom>
          <a:noFill/>
          <a:ln/>
        </p:spPr>
        <p:txBody>
          <a:bodyPr wrap="square" rtlCol="0" anchor="t"/>
          <a:lstStyle/>
          <a:p>
            <a:pPr indent="0" marL="0">
              <a:buNone/>
            </a:pPr>
            <a:r>
              <a:rPr lang="en-US" sz="1100" dirty="0">
                <a:solidFill>
                  <a:srgbClr val="9BA3AF"/>
                </a:solidFill>
                <a:latin typeface="Calibri" pitchFamily="34" charset="0"/>
                <a:ea typeface="Calibri" pitchFamily="34" charset="-122"/>
                <a:cs typeface="Calibri" pitchFamily="34" charset="-120"/>
              </a:rPr>
              <a:t>Context-aware analyst</a:t>
            </a:r>
            <a:endParaRPr lang="en-US" sz="1100" dirty="0"/>
          </a:p>
        </p:txBody>
      </p:sp>
      <p:sp>
        <p:nvSpPr>
          <p:cNvPr id="49" name="Text 38"/>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0A84FF"/>
                </a:solidFill>
                <a:latin typeface="Courier New" pitchFamily="34" charset="0"/>
                <a:ea typeface="Courier New" pitchFamily="34" charset="-122"/>
                <a:cs typeface="Courier New" pitchFamily="34" charset="-120"/>
              </a:rPr>
              <a:t>ARCHITECTURE</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Three tiers. Every secret stays server-side.</a:t>
            </a:r>
            <a:endParaRPr lang="en-US" sz="3000" dirty="0"/>
          </a:p>
        </p:txBody>
      </p:sp>
      <p:sp>
        <p:nvSpPr>
          <p:cNvPr id="4" name="Shape 2"/>
          <p:cNvSpPr/>
          <p:nvPr/>
        </p:nvSpPr>
        <p:spPr>
          <a:xfrm>
            <a:off x="640080" y="1874520"/>
            <a:ext cx="10881360" cy="1188720"/>
          </a:xfrm>
          <a:prstGeom prst="roundRect">
            <a:avLst>
              <a:gd name="adj" fmla="val 7692"/>
            </a:avLst>
          </a:prstGeom>
          <a:solidFill>
            <a:srgbClr val="13161D"/>
          </a:solidFill>
          <a:ln w="12700">
            <a:solidFill>
              <a:srgbClr val="FFFFFF"/>
            </a:solidFill>
            <a:prstDash val="solid"/>
          </a:ln>
        </p:spPr>
      </p:sp>
      <p:sp>
        <p:nvSpPr>
          <p:cNvPr id="5" name="Text 3"/>
          <p:cNvSpPr/>
          <p:nvPr/>
        </p:nvSpPr>
        <p:spPr>
          <a:xfrm>
            <a:off x="914400" y="1874520"/>
            <a:ext cx="2377440" cy="1188720"/>
          </a:xfrm>
          <a:prstGeom prst="rect">
            <a:avLst/>
          </a:prstGeom>
          <a:noFill/>
          <a:ln/>
        </p:spPr>
        <p:txBody>
          <a:bodyPr wrap="square" rtlCol="0" anchor="ctr"/>
          <a:lstStyle/>
          <a:p>
            <a:pPr indent="0" marL="0">
              <a:buNone/>
            </a:pPr>
            <a:r>
              <a:rPr lang="en-US" sz="1300" b="1" spc="100" kern="0" dirty="0">
                <a:solidFill>
                  <a:srgbClr val="FFFFFF"/>
                </a:solidFill>
                <a:latin typeface="Courier New" pitchFamily="34" charset="0"/>
                <a:ea typeface="Courier New" pitchFamily="34" charset="-122"/>
                <a:cs typeface="Courier New" pitchFamily="34" charset="-120"/>
              </a:rPr>
              <a:t>CLIENT</a:t>
            </a:r>
            <a:endParaRPr lang="en-US" sz="1300" dirty="0"/>
          </a:p>
        </p:txBody>
      </p:sp>
      <p:sp>
        <p:nvSpPr>
          <p:cNvPr id="6" name="Text 4"/>
          <p:cNvSpPr/>
          <p:nvPr/>
        </p:nvSpPr>
        <p:spPr>
          <a:xfrm>
            <a:off x="3474720" y="2057400"/>
            <a:ext cx="7772400" cy="45720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React 19 + TypeScript SPA</a:t>
            </a:r>
            <a:endParaRPr lang="en-US" sz="1400" dirty="0"/>
          </a:p>
        </p:txBody>
      </p:sp>
      <p:sp>
        <p:nvSpPr>
          <p:cNvPr id="7" name="Text 5"/>
          <p:cNvSpPr/>
          <p:nvPr/>
        </p:nvSpPr>
        <p:spPr>
          <a:xfrm>
            <a:off x="3474720" y="2496312"/>
            <a:ext cx="777240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Chrome extension (Manifest V3)</a:t>
            </a:r>
            <a:endParaRPr lang="en-US" sz="1200" dirty="0"/>
          </a:p>
        </p:txBody>
      </p:sp>
      <p:sp>
        <p:nvSpPr>
          <p:cNvPr id="8" name="Text 6"/>
          <p:cNvSpPr/>
          <p:nvPr/>
        </p:nvSpPr>
        <p:spPr>
          <a:xfrm>
            <a:off x="5989320" y="3063240"/>
            <a:ext cx="365760" cy="228600"/>
          </a:xfrm>
          <a:prstGeom prst="rect">
            <a:avLst/>
          </a:prstGeom>
          <a:noFill/>
          <a:ln/>
        </p:spPr>
        <p:txBody>
          <a:bodyPr wrap="square"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640080" y="3291840"/>
            <a:ext cx="10881360" cy="1188720"/>
          </a:xfrm>
          <a:prstGeom prst="roundRect">
            <a:avLst>
              <a:gd name="adj" fmla="val 7692"/>
            </a:avLst>
          </a:prstGeom>
          <a:solidFill>
            <a:srgbClr val="1B1F29"/>
          </a:solidFill>
          <a:ln w="12700">
            <a:solidFill>
              <a:srgbClr val="0A84FF"/>
            </a:solidFill>
            <a:prstDash val="solid"/>
          </a:ln>
        </p:spPr>
      </p:sp>
      <p:sp>
        <p:nvSpPr>
          <p:cNvPr id="10" name="Text 8"/>
          <p:cNvSpPr/>
          <p:nvPr/>
        </p:nvSpPr>
        <p:spPr>
          <a:xfrm>
            <a:off x="914400" y="3291840"/>
            <a:ext cx="2377440" cy="1188720"/>
          </a:xfrm>
          <a:prstGeom prst="rect">
            <a:avLst/>
          </a:prstGeom>
          <a:noFill/>
          <a:ln/>
        </p:spPr>
        <p:txBody>
          <a:bodyPr wrap="square" rtlCol="0" anchor="ctr"/>
          <a:lstStyle/>
          <a:p>
            <a:pPr indent="0" marL="0">
              <a:buNone/>
            </a:pPr>
            <a:r>
              <a:rPr lang="en-US" sz="1300" b="1" spc="100" kern="0" dirty="0">
                <a:solidFill>
                  <a:srgbClr val="0A84FF"/>
                </a:solidFill>
                <a:latin typeface="Courier New" pitchFamily="34" charset="0"/>
                <a:ea typeface="Courier New" pitchFamily="34" charset="-122"/>
                <a:cs typeface="Courier New" pitchFamily="34" charset="-120"/>
              </a:rPr>
              <a:t>EDGE FUNCTIONS</a:t>
            </a:r>
            <a:endParaRPr lang="en-US" sz="1300" dirty="0"/>
          </a:p>
        </p:txBody>
      </p:sp>
      <p:sp>
        <p:nvSpPr>
          <p:cNvPr id="11" name="Text 9"/>
          <p:cNvSpPr/>
          <p:nvPr/>
        </p:nvSpPr>
        <p:spPr>
          <a:xfrm>
            <a:off x="3474720" y="3474720"/>
            <a:ext cx="7772400" cy="45720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18 Deno serverless functions</a:t>
            </a:r>
            <a:endParaRPr lang="en-US" sz="1400" dirty="0"/>
          </a:p>
        </p:txBody>
      </p:sp>
      <p:sp>
        <p:nvSpPr>
          <p:cNvPr id="12" name="Text 10"/>
          <p:cNvSpPr/>
          <p:nvPr/>
        </p:nvSpPr>
        <p:spPr>
          <a:xfrm>
            <a:off x="3474720" y="3913632"/>
            <a:ext cx="777240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Rate limiting · auth check · provider calls</a:t>
            </a:r>
            <a:endParaRPr lang="en-US" sz="1200" dirty="0"/>
          </a:p>
        </p:txBody>
      </p:sp>
      <p:sp>
        <p:nvSpPr>
          <p:cNvPr id="13" name="Text 11"/>
          <p:cNvSpPr/>
          <p:nvPr/>
        </p:nvSpPr>
        <p:spPr>
          <a:xfrm>
            <a:off x="5989320" y="4480560"/>
            <a:ext cx="365760" cy="228600"/>
          </a:xfrm>
          <a:prstGeom prst="rect">
            <a:avLst/>
          </a:prstGeom>
          <a:noFill/>
          <a:ln/>
        </p:spPr>
        <p:txBody>
          <a:bodyPr wrap="square"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4" name="Shape 12"/>
          <p:cNvSpPr/>
          <p:nvPr/>
        </p:nvSpPr>
        <p:spPr>
          <a:xfrm>
            <a:off x="640080" y="4709160"/>
            <a:ext cx="10881360" cy="1188720"/>
          </a:xfrm>
          <a:prstGeom prst="roundRect">
            <a:avLst>
              <a:gd name="adj" fmla="val 7692"/>
            </a:avLst>
          </a:prstGeom>
          <a:solidFill>
            <a:srgbClr val="1B1F29"/>
          </a:solidFill>
          <a:ln w="12700">
            <a:solidFill>
              <a:srgbClr val="30D158"/>
            </a:solidFill>
            <a:prstDash val="solid"/>
          </a:ln>
        </p:spPr>
      </p:sp>
      <p:sp>
        <p:nvSpPr>
          <p:cNvPr id="15" name="Text 13"/>
          <p:cNvSpPr/>
          <p:nvPr/>
        </p:nvSpPr>
        <p:spPr>
          <a:xfrm>
            <a:off x="914400" y="4709160"/>
            <a:ext cx="2377440" cy="1188720"/>
          </a:xfrm>
          <a:prstGeom prst="rect">
            <a:avLst/>
          </a:prstGeom>
          <a:noFill/>
          <a:ln/>
        </p:spPr>
        <p:txBody>
          <a:bodyPr wrap="square" rtlCol="0" anchor="ctr"/>
          <a:lstStyle/>
          <a:p>
            <a:pPr indent="0" marL="0">
              <a:buNone/>
            </a:pPr>
            <a:r>
              <a:rPr lang="en-US" sz="1300" b="1" spc="100" kern="0" dirty="0">
                <a:solidFill>
                  <a:srgbClr val="30D158"/>
                </a:solidFill>
                <a:latin typeface="Courier New" pitchFamily="34" charset="0"/>
                <a:ea typeface="Courier New" pitchFamily="34" charset="-122"/>
                <a:cs typeface="Courier New" pitchFamily="34" charset="-120"/>
              </a:rPr>
              <a:t>DATA + PROVIDERS</a:t>
            </a:r>
            <a:endParaRPr lang="en-US" sz="1300" dirty="0"/>
          </a:p>
        </p:txBody>
      </p:sp>
      <p:sp>
        <p:nvSpPr>
          <p:cNvPr id="16" name="Text 14"/>
          <p:cNvSpPr/>
          <p:nvPr/>
        </p:nvSpPr>
        <p:spPr>
          <a:xfrm>
            <a:off x="3474720" y="4892040"/>
            <a:ext cx="7772400" cy="45720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Supabase Postgres + RLS</a:t>
            </a:r>
            <a:endParaRPr lang="en-US" sz="1400" dirty="0"/>
          </a:p>
        </p:txBody>
      </p:sp>
      <p:sp>
        <p:nvSpPr>
          <p:cNvPr id="17" name="Text 15"/>
          <p:cNvSpPr/>
          <p:nvPr/>
        </p:nvSpPr>
        <p:spPr>
          <a:xfrm>
            <a:off x="3474720" y="5330952"/>
            <a:ext cx="777240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Claude · Gemini · Hive AI · HIBP</a:t>
            </a:r>
            <a:endParaRPr lang="en-US" sz="1200" dirty="0"/>
          </a:p>
        </p:txBody>
      </p:sp>
      <p:sp>
        <p:nvSpPr>
          <p:cNvPr id="18" name="Text 16"/>
          <p:cNvSpPr/>
          <p:nvPr/>
        </p:nvSpPr>
        <p:spPr>
          <a:xfrm>
            <a:off x="640080" y="6263640"/>
            <a:ext cx="10881360" cy="365760"/>
          </a:xfrm>
          <a:prstGeom prst="rect">
            <a:avLst/>
          </a:prstGeom>
          <a:noFill/>
          <a:ln/>
        </p:spPr>
        <p:txBody>
          <a:bodyPr wrap="square"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Verified for this report: provider API keys never appear in the compiled client bundle.</a:t>
            </a:r>
            <a:endParaRPr lang="en-US" sz="1200" dirty="0"/>
          </a:p>
        </p:txBody>
      </p:sp>
      <p:sp>
        <p:nvSpPr>
          <p:cNvPr id="19" name="Text 17"/>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BF5AF2"/>
                </a:solidFill>
                <a:latin typeface="Courier New" pitchFamily="34" charset="0"/>
                <a:ea typeface="Courier New" pitchFamily="34" charset="-122"/>
                <a:cs typeface="Courier New" pitchFamily="34" charset="-120"/>
              </a:rPr>
              <a:t>THE CENTRAL CONTRIBUTION</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2800" b="1" dirty="0">
                <a:solidFill>
                  <a:srgbClr val="FFFFFF"/>
                </a:solidFill>
                <a:latin typeface="Bookman Old Style" pitchFamily="34" charset="0"/>
                <a:ea typeface="Bookman Old Style" pitchFamily="34" charset="-122"/>
                <a:cs typeface="Bookman Old Style" pitchFamily="34" charset="-120"/>
              </a:rPr>
              <a:t>DAYE — one persona, a prompt template per context</a:t>
            </a:r>
            <a:endParaRPr lang="en-US" sz="2800" dirty="0"/>
          </a:p>
        </p:txBody>
      </p:sp>
      <p:sp>
        <p:nvSpPr>
          <p:cNvPr id="4" name="Shape 2"/>
          <p:cNvSpPr/>
          <p:nvPr/>
        </p:nvSpPr>
        <p:spPr>
          <a:xfrm>
            <a:off x="640080" y="1783080"/>
            <a:ext cx="3108960" cy="3108960"/>
          </a:xfrm>
          <a:prstGeom prst="oval">
            <a:avLst/>
          </a:prstGeom>
          <a:solidFill>
            <a:srgbClr val="241B2E"/>
          </a:solidFill>
          <a:ln w="19050">
            <a:solidFill>
              <a:srgbClr val="BF5AF2"/>
            </a:solidFill>
            <a:prstDash val="solid"/>
          </a:ln>
        </p:spPr>
      </p:sp>
      <p:pic>
        <p:nvPicPr>
          <p:cNvPr id="5" name="Image 0" descr="/home/user/DOBERMAN-/.eval-scripts/pptx-build/icons/robot-BF5AF2.png">    </p:cNvPr>
          <p:cNvPicPr>
            <a:picLocks noChangeAspect="1"/>
          </p:cNvPicPr>
          <p:nvPr/>
        </p:nvPicPr>
        <p:blipFill>
          <a:blip r:embed="rId1"/>
          <a:stretch>
            <a:fillRect/>
          </a:stretch>
        </p:blipFill>
        <p:spPr>
          <a:xfrm>
            <a:off x="1600200" y="2743200"/>
            <a:ext cx="1188720" cy="1188720"/>
          </a:xfrm>
          <a:prstGeom prst="rect">
            <a:avLst/>
          </a:prstGeom>
        </p:spPr>
      </p:pic>
      <p:sp>
        <p:nvSpPr>
          <p:cNvPr id="6" name="Text 3"/>
          <p:cNvSpPr/>
          <p:nvPr/>
        </p:nvSpPr>
        <p:spPr>
          <a:xfrm>
            <a:off x="640080" y="4892040"/>
            <a:ext cx="3108960" cy="640080"/>
          </a:xfrm>
          <a:prstGeom prst="rect">
            <a:avLst/>
          </a:prstGeom>
          <a:noFill/>
          <a:ln/>
        </p:spPr>
        <p:txBody>
          <a:bodyPr wrap="square" rtlCol="0" anchor="ctr"/>
          <a:lstStyle/>
          <a:p>
            <a:pPr algn="ctr" indent="0" marL="0">
              <a:buNone/>
            </a:pPr>
            <a:r>
              <a:rPr lang="en-US" sz="1100" dirty="0">
                <a:solidFill>
                  <a:srgbClr val="9BA3AF"/>
                </a:solidFill>
                <a:latin typeface="Courier New" pitchFamily="34" charset="0"/>
                <a:ea typeface="Courier New" pitchFamily="34" charset="-122"/>
                <a:cs typeface="Courier New" pitchFamily="34" charset="-120"/>
              </a:rPr>
              <a:t>Doberman Artificial</a:t>
            </a:r>
            <a:endParaRPr lang="en-US" sz="1100" dirty="0"/>
          </a:p>
          <a:p>
            <a:pPr algn="ctr" indent="0" marL="0">
              <a:buNone/>
            </a:pPr>
            <a:r>
              <a:rPr lang="en-US" sz="1100" dirty="0">
                <a:solidFill>
                  <a:srgbClr val="9BA3AF"/>
                </a:solidFill>
                <a:latin typeface="Courier New" pitchFamily="34" charset="0"/>
                <a:ea typeface="Courier New" pitchFamily="34" charset="-122"/>
                <a:cs typeface="Courier New" pitchFamily="34" charset="-120"/>
              </a:rPr>
              <a:t>Yield Engine</a:t>
            </a:r>
            <a:endParaRPr lang="en-US" sz="1100" dirty="0"/>
          </a:p>
        </p:txBody>
      </p:sp>
      <p:sp>
        <p:nvSpPr>
          <p:cNvPr id="7" name="Shape 4"/>
          <p:cNvSpPr/>
          <p:nvPr/>
        </p:nvSpPr>
        <p:spPr>
          <a:xfrm>
            <a:off x="4114800" y="1828800"/>
            <a:ext cx="109728" cy="109728"/>
          </a:xfrm>
          <a:prstGeom prst="oval">
            <a:avLst/>
          </a:prstGeom>
          <a:solidFill>
            <a:srgbClr val="BF5AF2"/>
          </a:solidFill>
          <a:ln/>
        </p:spPr>
      </p:sp>
      <p:sp>
        <p:nvSpPr>
          <p:cNvPr id="8" name="Text 5"/>
          <p:cNvSpPr/>
          <p:nvPr/>
        </p:nvSpPr>
        <p:spPr>
          <a:xfrm>
            <a:off x="4389120" y="1709928"/>
            <a:ext cx="694944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12+ context-specific prompt templates</a:t>
            </a:r>
            <a:endParaRPr lang="en-US" sz="1400" dirty="0"/>
          </a:p>
        </p:txBody>
      </p:sp>
      <p:sp>
        <p:nvSpPr>
          <p:cNvPr id="9" name="Text 6"/>
          <p:cNvSpPr/>
          <p:nvPr/>
        </p:nvSpPr>
        <p:spPr>
          <a:xfrm>
            <a:off x="4389120" y="2039112"/>
            <a:ext cx="6949440" cy="59436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deepfake_result, voice_result, breach_result, scam_link_result, globe_country, idle_tip — each references the calling module’s own structured fields rather than re-deriving a verdict.</a:t>
            </a:r>
            <a:endParaRPr lang="en-US" sz="1100" dirty="0"/>
          </a:p>
        </p:txBody>
      </p:sp>
      <p:sp>
        <p:nvSpPr>
          <p:cNvPr id="10" name="Shape 7"/>
          <p:cNvSpPr/>
          <p:nvPr/>
        </p:nvSpPr>
        <p:spPr>
          <a:xfrm>
            <a:off x="4114800" y="2788920"/>
            <a:ext cx="109728" cy="109728"/>
          </a:xfrm>
          <a:prstGeom prst="oval">
            <a:avLst/>
          </a:prstGeom>
          <a:solidFill>
            <a:srgbClr val="BF5AF2"/>
          </a:solidFill>
          <a:ln/>
        </p:spPr>
      </p:sp>
      <p:sp>
        <p:nvSpPr>
          <p:cNvPr id="11" name="Text 8"/>
          <p:cNvSpPr/>
          <p:nvPr/>
        </p:nvSpPr>
        <p:spPr>
          <a:xfrm>
            <a:off x="4389120" y="2670048"/>
            <a:ext cx="694944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Explains signals, not headlines</a:t>
            </a:r>
            <a:endParaRPr lang="en-US" sz="1400" dirty="0"/>
          </a:p>
        </p:txBody>
      </p:sp>
      <p:sp>
        <p:nvSpPr>
          <p:cNvPr id="12" name="Text 9"/>
          <p:cNvSpPr/>
          <p:nvPr/>
        </p:nvSpPr>
        <p:spPr>
          <a:xfrm>
            <a:off x="4389120" y="2999232"/>
            <a:ext cx="6949440" cy="59436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Prompts explicitly instruct: interpret which signals actually drove the verdict, don’t just restate the number.</a:t>
            </a:r>
            <a:endParaRPr lang="en-US" sz="1100" dirty="0"/>
          </a:p>
        </p:txBody>
      </p:sp>
      <p:sp>
        <p:nvSpPr>
          <p:cNvPr id="13" name="Shape 10"/>
          <p:cNvSpPr/>
          <p:nvPr/>
        </p:nvSpPr>
        <p:spPr>
          <a:xfrm>
            <a:off x="4114800" y="3749040"/>
            <a:ext cx="109728" cy="109728"/>
          </a:xfrm>
          <a:prstGeom prst="oval">
            <a:avLst/>
          </a:prstGeom>
          <a:solidFill>
            <a:srgbClr val="BF5AF2"/>
          </a:solidFill>
          <a:ln/>
        </p:spPr>
      </p:sp>
      <p:sp>
        <p:nvSpPr>
          <p:cNvPr id="14" name="Text 11"/>
          <p:cNvSpPr/>
          <p:nvPr/>
        </p:nvSpPr>
        <p:spPr>
          <a:xfrm>
            <a:off x="4389120" y="3630168"/>
            <a:ext cx="694944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Dual-provider resilience</a:t>
            </a:r>
            <a:endParaRPr lang="en-US" sz="1400" dirty="0"/>
          </a:p>
        </p:txBody>
      </p:sp>
      <p:sp>
        <p:nvSpPr>
          <p:cNvPr id="15" name="Text 12"/>
          <p:cNvSpPr/>
          <p:nvPr/>
        </p:nvSpPr>
        <p:spPr>
          <a:xfrm>
            <a:off x="4389120" y="3959352"/>
            <a:ext cx="6949440" cy="59436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Claude Sonnet primary → automatic Gemini fallback on failure, added after single-provider dependency was flagged as a risk during development.</a:t>
            </a:r>
            <a:endParaRPr lang="en-US" sz="1100" dirty="0"/>
          </a:p>
        </p:txBody>
      </p:sp>
      <p:sp>
        <p:nvSpPr>
          <p:cNvPr id="16" name="Shape 13"/>
          <p:cNvSpPr/>
          <p:nvPr/>
        </p:nvSpPr>
        <p:spPr>
          <a:xfrm>
            <a:off x="4114800" y="4709160"/>
            <a:ext cx="109728" cy="109728"/>
          </a:xfrm>
          <a:prstGeom prst="oval">
            <a:avLst/>
          </a:prstGeom>
          <a:solidFill>
            <a:srgbClr val="BF5AF2"/>
          </a:solidFill>
          <a:ln/>
        </p:spPr>
      </p:sp>
      <p:sp>
        <p:nvSpPr>
          <p:cNvPr id="17" name="Text 14"/>
          <p:cNvSpPr/>
          <p:nvPr/>
        </p:nvSpPr>
        <p:spPr>
          <a:xfrm>
            <a:off x="4389120" y="4590288"/>
            <a:ext cx="6949440" cy="3200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Built-in honesty instruction</a:t>
            </a:r>
            <a:endParaRPr lang="en-US" sz="1400" dirty="0"/>
          </a:p>
        </p:txBody>
      </p:sp>
      <p:sp>
        <p:nvSpPr>
          <p:cNvPr id="18" name="Text 15"/>
          <p:cNvSpPr/>
          <p:nvPr/>
        </p:nvSpPr>
        <p:spPr>
          <a:xfrm>
            <a:off x="4389120" y="4919472"/>
            <a:ext cx="6949440" cy="59436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"If you are not confident about specific claims... keep it accurate and general rather than inventing specifics" — verified directly in the deployed prompt.</a:t>
            </a:r>
            <a:endParaRPr lang="en-US" sz="1100" dirty="0"/>
          </a:p>
        </p:txBody>
      </p:sp>
      <p:sp>
        <p:nvSpPr>
          <p:cNvPr id="19" name="Text 16"/>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FF3B30"/>
                </a:solidFill>
                <a:latin typeface="Courier New" pitchFamily="34" charset="0"/>
                <a:ea typeface="Courier New" pitchFamily="34" charset="-122"/>
                <a:cs typeface="Courier New" pitchFamily="34" charset="-120"/>
              </a:rPr>
              <a:t>MODULE SPOTLIGHT</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2700" b="1" dirty="0">
                <a:solidFill>
                  <a:srgbClr val="FFFFFF"/>
                </a:solidFill>
                <a:latin typeface="Bookman Old Style" pitchFamily="34" charset="0"/>
                <a:ea typeface="Bookman Old Style" pitchFamily="34" charset="-122"/>
                <a:cs typeface="Bookman Old Style" pitchFamily="34" charset="-120"/>
              </a:rPr>
              <a:t>EYES · Voice Intelligence · Text AI-Detection</a:t>
            </a:r>
            <a:endParaRPr lang="en-US" sz="2700" dirty="0"/>
          </a:p>
        </p:txBody>
      </p:sp>
      <p:pic>
        <p:nvPicPr>
          <p:cNvPr id="4" name="Image 0" descr="/home/user/DOBERMAN-/.eval-scripts/pptx-build/shots/03-eyes-result.png">    </p:cNvPr>
          <p:cNvPicPr>
            <a:picLocks noChangeAspect="1"/>
          </p:cNvPicPr>
          <p:nvPr/>
        </p:nvPicPr>
        <p:blipFill>
          <a:blip r:embed="rId1"/>
          <a:srcRect l="0" r="0" t="0" b="0"/>
          <a:stretch/>
        </p:blipFill>
        <p:spPr>
          <a:xfrm>
            <a:off x="6309360" y="1600200"/>
            <a:ext cx="5212080" cy="3310128"/>
          </a:xfrm>
          <a:prstGeom prst="rect">
            <a:avLst/>
          </a:prstGeom>
        </p:spPr>
      </p:pic>
      <p:sp>
        <p:nvSpPr>
          <p:cNvPr id="5" name="Shape 2"/>
          <p:cNvSpPr/>
          <p:nvPr/>
        </p:nvSpPr>
        <p:spPr>
          <a:xfrm>
            <a:off x="6309360" y="1600200"/>
            <a:ext cx="5212080" cy="3310128"/>
          </a:xfrm>
          <a:prstGeom prst="roundRect">
            <a:avLst>
              <a:gd name="adj" fmla="val 1381"/>
            </a:avLst>
          </a:prstGeom>
          <a:ln w="12700">
            <a:solidFill>
              <a:srgbClr val="2A2F3A"/>
            </a:solidFill>
            <a:prstDash val="solid"/>
          </a:ln>
        </p:spPr>
      </p:sp>
      <p:sp>
        <p:nvSpPr>
          <p:cNvPr id="6" name="Text 3"/>
          <p:cNvSpPr/>
          <p:nvPr/>
        </p:nvSpPr>
        <p:spPr>
          <a:xfrm>
            <a:off x="640080" y="1691640"/>
            <a:ext cx="53949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Hive AI computer vision + Claude explanation</a:t>
            </a:r>
            <a:endParaRPr lang="en-US" sz="1400" dirty="0"/>
          </a:p>
        </p:txBody>
      </p:sp>
      <p:sp>
        <p:nvSpPr>
          <p:cNvPr id="7" name="Text 4"/>
          <p:cNvSpPr/>
          <p:nvPr/>
        </p:nvSpPr>
        <p:spPr>
          <a:xfrm>
            <a:off x="640080" y="2039112"/>
            <a:ext cx="5394960" cy="64008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EYES calls a real third-party detection provider, then DAYE translates the raw classification into plain language.</a:t>
            </a:r>
            <a:endParaRPr lang="en-US" sz="1100" dirty="0"/>
          </a:p>
        </p:txBody>
      </p:sp>
      <p:sp>
        <p:nvSpPr>
          <p:cNvPr id="8" name="Text 5"/>
          <p:cNvSpPr/>
          <p:nvPr/>
        </p:nvSpPr>
        <p:spPr>
          <a:xfrm>
            <a:off x="640080" y="2743200"/>
            <a:ext cx="53949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Named signals, not a bare score</a:t>
            </a:r>
            <a:endParaRPr lang="en-US" sz="1400" dirty="0"/>
          </a:p>
        </p:txBody>
      </p:sp>
      <p:sp>
        <p:nvSpPr>
          <p:cNvPr id="9" name="Text 6"/>
          <p:cNvSpPr/>
          <p:nvPr/>
        </p:nvSpPr>
        <p:spPr>
          <a:xfrm>
            <a:off x="640080" y="3090672"/>
            <a:ext cx="5394960" cy="64008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AI-generation probability, deepfake probability, C2PA credential status, and model attribution shown separately.</a:t>
            </a:r>
            <a:endParaRPr lang="en-US" sz="1100" dirty="0"/>
          </a:p>
        </p:txBody>
      </p:sp>
      <p:sp>
        <p:nvSpPr>
          <p:cNvPr id="10" name="Text 7"/>
          <p:cNvSpPr/>
          <p:nvPr/>
        </p:nvSpPr>
        <p:spPr>
          <a:xfrm>
            <a:off x="640080" y="3794760"/>
            <a:ext cx="53949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Voice: pause-pattern literature informed design</a:t>
            </a:r>
            <a:endParaRPr lang="en-US" sz="1400" dirty="0"/>
          </a:p>
        </p:txBody>
      </p:sp>
      <p:sp>
        <p:nvSpPr>
          <p:cNvPr id="11" name="Text 8"/>
          <p:cNvSpPr/>
          <p:nvPr/>
        </p:nvSpPr>
        <p:spPr>
          <a:xfrm>
            <a:off x="640080" y="4142232"/>
            <a:ext cx="5394960" cy="64008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Named clone indicators (pitch stability, missing breath sounds) over a single number — consistent with JMIR 2024 findings.</a:t>
            </a:r>
            <a:endParaRPr lang="en-US" sz="1100" dirty="0"/>
          </a:p>
        </p:txBody>
      </p:sp>
      <p:sp>
        <p:nvSpPr>
          <p:cNvPr id="12" name="Text 9"/>
          <p:cNvSpPr/>
          <p:nvPr/>
        </p:nvSpPr>
        <p:spPr>
          <a:xfrm>
            <a:off x="640080" y="4846320"/>
            <a:ext cx="539496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Text: minimum word-count gate</a:t>
            </a:r>
            <a:endParaRPr lang="en-US" sz="1400" dirty="0"/>
          </a:p>
        </p:txBody>
      </p:sp>
      <p:sp>
        <p:nvSpPr>
          <p:cNvPr id="13" name="Text 10"/>
          <p:cNvSpPr/>
          <p:nvPr/>
        </p:nvSpPr>
        <p:spPr>
          <a:xfrm>
            <a:off x="640080" y="5193792"/>
            <a:ext cx="5394960" cy="64008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Stylometric signals (sentence uniformity, generic phrasing) surfaced explicitly, framed as probabilistic evidence.</a:t>
            </a:r>
            <a:endParaRPr lang="en-US" sz="1100" dirty="0"/>
          </a:p>
        </p:txBody>
      </p:sp>
      <p:sp>
        <p:nvSpPr>
          <p:cNvPr id="14" name="Text 11"/>
          <p:cNvSpPr/>
          <p:nvPr/>
        </p:nvSpPr>
        <p:spPr>
          <a:xfrm>
            <a:off x="6309360" y="4956048"/>
            <a:ext cx="5212080" cy="27432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Simulated result shown — see Slide 12</a:t>
            </a:r>
            <a:endParaRPr lang="en-US" sz="900" dirty="0"/>
          </a:p>
        </p:txBody>
      </p:sp>
      <p:sp>
        <p:nvSpPr>
          <p:cNvPr id="15" name="Text 12"/>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FF9F0A"/>
                </a:solidFill>
                <a:latin typeface="Courier New" pitchFamily="34" charset="0"/>
                <a:ea typeface="Courier New" pitchFamily="34" charset="-122"/>
                <a:cs typeface="Courier New" pitchFamily="34" charset="-120"/>
              </a:rPr>
              <a:t>MODULE SPOTLIGHT</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2800" b="1" dirty="0">
                <a:solidFill>
                  <a:srgbClr val="FFFFFF"/>
                </a:solidFill>
                <a:latin typeface="Bookman Old Style" pitchFamily="34" charset="0"/>
                <a:ea typeface="Bookman Old Style" pitchFamily="34" charset="-122"/>
                <a:cs typeface="Bookman Old Style" pitchFamily="34" charset="-120"/>
              </a:rPr>
              <a:t>NOSE — IoT risk triage from plain language</a:t>
            </a:r>
            <a:endParaRPr lang="en-US" sz="2800" dirty="0"/>
          </a:p>
        </p:txBody>
      </p:sp>
      <p:pic>
        <p:nvPicPr>
          <p:cNvPr id="4" name="Image 0" descr="/home/user/DOBERMAN-/.eval-scripts/pptx-build/shots/02-nose-result.png">    </p:cNvPr>
          <p:cNvPicPr>
            <a:picLocks noChangeAspect="1"/>
          </p:cNvPicPr>
          <p:nvPr/>
        </p:nvPicPr>
        <p:blipFill>
          <a:blip r:embed="rId1"/>
          <a:srcRect l="0" r="0" t="0" b="0"/>
          <a:stretch/>
        </p:blipFill>
        <p:spPr>
          <a:xfrm>
            <a:off x="640080" y="1600200"/>
            <a:ext cx="5212080" cy="3429000"/>
          </a:xfrm>
          <a:prstGeom prst="rect">
            <a:avLst/>
          </a:prstGeom>
        </p:spPr>
      </p:pic>
      <p:sp>
        <p:nvSpPr>
          <p:cNvPr id="5" name="Shape 2"/>
          <p:cNvSpPr/>
          <p:nvPr/>
        </p:nvSpPr>
        <p:spPr>
          <a:xfrm>
            <a:off x="640080" y="1600200"/>
            <a:ext cx="5212080" cy="3429000"/>
          </a:xfrm>
          <a:prstGeom prst="roundRect">
            <a:avLst>
              <a:gd name="adj" fmla="val 1333"/>
            </a:avLst>
          </a:prstGeom>
          <a:ln w="12700">
            <a:solidFill>
              <a:srgbClr val="2A2F3A"/>
            </a:solidFill>
            <a:prstDash val="solid"/>
          </a:ln>
        </p:spPr>
      </p:sp>
      <p:sp>
        <p:nvSpPr>
          <p:cNvPr id="6" name="Text 3"/>
          <p:cNvSpPr/>
          <p:nvPr/>
        </p:nvSpPr>
        <p:spPr>
          <a:xfrm>
            <a:off x="640080" y="5120640"/>
            <a:ext cx="5212080" cy="54864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No network access needed — a natural-language description of your devices in, a prioritised remediation plan out.</a:t>
            </a:r>
            <a:endParaRPr lang="en-US" sz="1100" dirty="0"/>
          </a:p>
        </p:txBody>
      </p:sp>
      <p:sp>
        <p:nvSpPr>
          <p:cNvPr id="7" name="Shape 4"/>
          <p:cNvSpPr/>
          <p:nvPr/>
        </p:nvSpPr>
        <p:spPr>
          <a:xfrm>
            <a:off x="6172200" y="1600200"/>
            <a:ext cx="5349240" cy="4114800"/>
          </a:xfrm>
          <a:prstGeom prst="roundRect">
            <a:avLst>
              <a:gd name="adj" fmla="val 2222"/>
            </a:avLst>
          </a:prstGeom>
          <a:solidFill>
            <a:srgbClr val="2E1610"/>
          </a:solidFill>
          <a:ln w="12700">
            <a:solidFill>
              <a:srgbClr val="FF3B30"/>
            </a:solidFill>
            <a:prstDash val="solid"/>
          </a:ln>
        </p:spPr>
      </p:sp>
      <p:pic>
        <p:nvPicPr>
          <p:cNvPr id="8" name="Image 1" descr="/home/user/DOBERMAN-/.eval-scripts/pptx-build/icons/warning-FF3B30.png">    </p:cNvPr>
          <p:cNvPicPr>
            <a:picLocks noChangeAspect="1"/>
          </p:cNvPicPr>
          <p:nvPr/>
        </p:nvPicPr>
        <p:blipFill>
          <a:blip r:embed="rId2"/>
          <a:stretch>
            <a:fillRect/>
          </a:stretch>
        </p:blipFill>
        <p:spPr>
          <a:xfrm>
            <a:off x="6446520" y="1828800"/>
            <a:ext cx="365760" cy="365760"/>
          </a:xfrm>
          <a:prstGeom prst="rect">
            <a:avLst/>
          </a:prstGeom>
        </p:spPr>
      </p:pic>
      <p:sp>
        <p:nvSpPr>
          <p:cNvPr id="9" name="Text 5"/>
          <p:cNvSpPr/>
          <p:nvPr/>
        </p:nvSpPr>
        <p:spPr>
          <a:xfrm>
            <a:off x="6949440" y="1828800"/>
            <a:ext cx="4389120" cy="365760"/>
          </a:xfrm>
          <a:prstGeom prst="rect">
            <a:avLst/>
          </a:prstGeom>
          <a:noFill/>
          <a:ln/>
        </p:spPr>
        <p:txBody>
          <a:bodyPr wrap="square" rtlCol="0" anchor="ctr"/>
          <a:lstStyle/>
          <a:p>
            <a:pPr indent="0" marL="0">
              <a:buNone/>
            </a:pPr>
            <a:r>
              <a:rPr lang="en-US" sz="1500" b="1" dirty="0">
                <a:solidFill>
                  <a:srgbClr val="FF3B30"/>
                </a:solidFill>
                <a:latin typeface="Calibri" pitchFamily="34" charset="0"/>
                <a:ea typeface="Calibri" pitchFamily="34" charset="-122"/>
                <a:cs typeface="Calibri" pitchFamily="34" charset="-120"/>
              </a:rPr>
              <a:t>A claim we withdrew</a:t>
            </a:r>
            <a:endParaRPr lang="en-US" sz="1500" dirty="0"/>
          </a:p>
        </p:txBody>
      </p:sp>
      <p:sp>
        <p:nvSpPr>
          <p:cNvPr id="10" name="Text 6"/>
          <p:cNvSpPr/>
          <p:nvPr/>
        </p:nvSpPr>
        <p:spPr>
          <a:xfrm>
            <a:off x="6446520" y="2331720"/>
            <a:ext cx="4846320" cy="914400"/>
          </a:xfrm>
          <a:prstGeom prst="rect">
            <a:avLst/>
          </a:prstGeom>
          <a:noFill/>
          <a:ln/>
        </p:spPr>
        <p:txBody>
          <a:bodyPr wrap="square" rtlCol="0" anchor="ctr"/>
          <a:lstStyle/>
          <a:p>
            <a:pPr indent="0" marL="0">
              <a:buNone/>
            </a:pPr>
            <a:r>
              <a:rPr lang="en-US" sz="1200" dirty="0">
                <a:solidFill>
                  <a:srgbClr val="FFFFFF"/>
                </a:solidFill>
                <a:latin typeface="Calibri" pitchFamily="34" charset="0"/>
                <a:ea typeface="Calibri" pitchFamily="34" charset="-122"/>
                <a:cs typeface="Calibri" pitchFamily="34" charset="-120"/>
              </a:rPr>
              <a:t>The earlier report claimed NOSE’s CVE references were "verified, not hallucinated." Reading the deployed function directly shows it has no NVD lookup — it’s pure LLM generation.</a:t>
            </a:r>
            <a:endParaRPr lang="en-US" sz="1200" dirty="0"/>
          </a:p>
        </p:txBody>
      </p:sp>
      <p:sp>
        <p:nvSpPr>
          <p:cNvPr id="11" name="Text 7"/>
          <p:cNvSpPr/>
          <p:nvPr/>
        </p:nvSpPr>
        <p:spPr>
          <a:xfrm>
            <a:off x="6446520" y="3337560"/>
            <a:ext cx="4846320" cy="77724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CVE-2023-1389 (the TP-Link example) is real — but that reflects the model’s training data on a famous CVE, not a verification mechanism.</a:t>
            </a:r>
            <a:endParaRPr lang="en-US" sz="1200" dirty="0"/>
          </a:p>
        </p:txBody>
      </p:sp>
      <p:sp>
        <p:nvSpPr>
          <p:cNvPr id="12" name="Shape 8"/>
          <p:cNvSpPr/>
          <p:nvPr/>
        </p:nvSpPr>
        <p:spPr>
          <a:xfrm>
            <a:off x="6446520" y="4206240"/>
            <a:ext cx="4846320" cy="0"/>
          </a:xfrm>
          <a:prstGeom prst="line">
            <a:avLst/>
          </a:prstGeom>
          <a:noFill/>
          <a:ln w="12700">
            <a:solidFill>
              <a:srgbClr val="4A2018"/>
            </a:solidFill>
            <a:prstDash val="solid"/>
          </a:ln>
        </p:spPr>
      </p:sp>
      <p:sp>
        <p:nvSpPr>
          <p:cNvPr id="13" name="Text 9"/>
          <p:cNvSpPr/>
          <p:nvPr/>
        </p:nvSpPr>
        <p:spPr>
          <a:xfrm>
            <a:off x="6446520" y="4343400"/>
            <a:ext cx="4846320" cy="777240"/>
          </a:xfrm>
          <a:prstGeom prst="rect">
            <a:avLst/>
          </a:prstGeom>
          <a:noFill/>
          <a:ln/>
        </p:spPr>
        <p:txBody>
          <a:bodyPr wrap="square" rtlCol="0" anchor="ctr"/>
          <a:lstStyle/>
          <a:p>
            <a:pPr indent="0" marL="0">
              <a:buNone/>
            </a:pPr>
            <a:r>
              <a:rPr lang="en-US" sz="1200" i="1" dirty="0">
                <a:solidFill>
                  <a:srgbClr val="30D158"/>
                </a:solidFill>
                <a:latin typeface="Calibri" pitchFamily="34" charset="0"/>
                <a:ea typeface="Calibri" pitchFamily="34" charset="-122"/>
                <a:cs typeface="Calibri" pitchFamily="34" charset="-120"/>
              </a:rPr>
              <a:t>This report names it as a limitation and specifies the fix: server-side NVD/CIRCL cross-referencing before a CVE is returned.</a:t>
            </a:r>
            <a:endParaRPr lang="en-US" sz="1200" dirty="0"/>
          </a:p>
        </p:txBody>
      </p:sp>
      <p:sp>
        <p:nvSpPr>
          <p:cNvPr id="14" name="Text 10"/>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30D158"/>
                </a:solidFill>
                <a:latin typeface="Courier New" pitchFamily="34" charset="0"/>
                <a:ea typeface="Courier New" pitchFamily="34" charset="-122"/>
                <a:cs typeface="Courier New" pitchFamily="34" charset="-120"/>
              </a:rPr>
              <a:t>MODULE SPOTLIGHT</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2800" b="1" dirty="0">
                <a:solidFill>
                  <a:srgbClr val="FFFFFF"/>
                </a:solidFill>
                <a:latin typeface="Bookman Old Style" pitchFamily="34" charset="0"/>
                <a:ea typeface="Bookman Old Style" pitchFamily="34" charset="-122"/>
                <a:cs typeface="Bookman Old Style" pitchFamily="34" charset="-120"/>
              </a:rPr>
              <a:t>Breach Detection — real HIBP, honest gaps</a:t>
            </a:r>
            <a:endParaRPr lang="en-US" sz="2800" dirty="0"/>
          </a:p>
        </p:txBody>
      </p:sp>
      <p:pic>
        <p:nvPicPr>
          <p:cNvPr id="4" name="Image 0" descr="/home/user/DOBERMAN-/.eval-scripts/pptx-build/shots/12-breach-result.png">    </p:cNvPr>
          <p:cNvPicPr>
            <a:picLocks noChangeAspect="1"/>
          </p:cNvPicPr>
          <p:nvPr/>
        </p:nvPicPr>
        <p:blipFill>
          <a:blip r:embed="rId1"/>
          <a:srcRect l="0" r="0" t="0" b="0"/>
          <a:stretch/>
        </p:blipFill>
        <p:spPr>
          <a:xfrm>
            <a:off x="6309360" y="1600200"/>
            <a:ext cx="5212080" cy="3310128"/>
          </a:xfrm>
          <a:prstGeom prst="rect">
            <a:avLst/>
          </a:prstGeom>
        </p:spPr>
      </p:pic>
      <p:sp>
        <p:nvSpPr>
          <p:cNvPr id="5" name="Shape 2"/>
          <p:cNvSpPr/>
          <p:nvPr/>
        </p:nvSpPr>
        <p:spPr>
          <a:xfrm>
            <a:off x="6309360" y="1600200"/>
            <a:ext cx="5212080" cy="3310128"/>
          </a:xfrm>
          <a:prstGeom prst="roundRect">
            <a:avLst>
              <a:gd name="adj" fmla="val 1381"/>
            </a:avLst>
          </a:prstGeom>
          <a:ln w="12700">
            <a:solidFill>
              <a:srgbClr val="2A2F3A"/>
            </a:solidFill>
            <a:prstDash val="solid"/>
          </a:ln>
        </p:spPr>
      </p:sp>
      <p:pic>
        <p:nvPicPr>
          <p:cNvPr id="6" name="Image 1" descr="/home/user/DOBERMAN-/.eval-scripts/pptx-build/icons/check-30D158.png">    </p:cNvPr>
          <p:cNvPicPr>
            <a:picLocks noChangeAspect="1"/>
          </p:cNvPicPr>
          <p:nvPr/>
        </p:nvPicPr>
        <p:blipFill>
          <a:blip r:embed="rId2"/>
          <a:stretch>
            <a:fillRect/>
          </a:stretch>
        </p:blipFill>
        <p:spPr>
          <a:xfrm>
            <a:off x="640080" y="1737360"/>
            <a:ext cx="320040" cy="320040"/>
          </a:xfrm>
          <a:prstGeom prst="rect">
            <a:avLst/>
          </a:prstGeom>
        </p:spPr>
      </p:pic>
      <p:sp>
        <p:nvSpPr>
          <p:cNvPr id="7" name="Text 3"/>
          <p:cNvSpPr/>
          <p:nvPr/>
        </p:nvSpPr>
        <p:spPr>
          <a:xfrm>
            <a:off x="1143000" y="1691640"/>
            <a:ext cx="4846320" cy="41148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Passwords: real k-anonymity protocol</a:t>
            </a:r>
            <a:endParaRPr lang="en-US" sz="1400" dirty="0"/>
          </a:p>
        </p:txBody>
      </p:sp>
      <p:sp>
        <p:nvSpPr>
          <p:cNvPr id="8" name="Text 4"/>
          <p:cNvSpPr/>
          <p:nvPr/>
        </p:nvSpPr>
        <p:spPr>
          <a:xfrm>
            <a:off x="1143000" y="2103120"/>
            <a:ext cx="4846320" cy="73152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SHA-1 hashed locally, only a 5-character prefix sent to Pwned Passwords — the full password never leaves the function.</a:t>
            </a:r>
            <a:endParaRPr lang="en-US" sz="1100" dirty="0"/>
          </a:p>
        </p:txBody>
      </p:sp>
      <p:pic>
        <p:nvPicPr>
          <p:cNvPr id="9" name="Image 2" descr="/home/user/DOBERMAN-/.eval-scripts/pptx-build/icons/check-30D158.png">    </p:cNvPr>
          <p:cNvPicPr>
            <a:picLocks noChangeAspect="1"/>
          </p:cNvPicPr>
          <p:nvPr/>
        </p:nvPicPr>
        <p:blipFill>
          <a:blip r:embed="rId3"/>
          <a:stretch>
            <a:fillRect/>
          </a:stretch>
        </p:blipFill>
        <p:spPr>
          <a:xfrm>
            <a:off x="640080" y="2971800"/>
            <a:ext cx="320040" cy="320040"/>
          </a:xfrm>
          <a:prstGeom prst="rect">
            <a:avLst/>
          </a:prstGeom>
        </p:spPr>
      </p:pic>
      <p:sp>
        <p:nvSpPr>
          <p:cNvPr id="10" name="Text 5"/>
          <p:cNvSpPr/>
          <p:nvPr/>
        </p:nvSpPr>
        <p:spPr>
          <a:xfrm>
            <a:off x="1143000" y="2926080"/>
            <a:ext cx="4846320" cy="41148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Emails: live HIBP breach-account API</a:t>
            </a:r>
            <a:endParaRPr lang="en-US" sz="1400" dirty="0"/>
          </a:p>
        </p:txBody>
      </p:sp>
      <p:sp>
        <p:nvSpPr>
          <p:cNvPr id="11" name="Text 6"/>
          <p:cNvSpPr/>
          <p:nvPr/>
        </p:nvSpPr>
        <p:spPr>
          <a:xfrm>
            <a:off x="1143000" y="3337560"/>
            <a:ext cx="4846320" cy="73152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Called when a key is configured — returns real breach names, dates, and exposed data classes.</a:t>
            </a:r>
            <a:endParaRPr lang="en-US" sz="1100" dirty="0"/>
          </a:p>
        </p:txBody>
      </p:sp>
      <p:pic>
        <p:nvPicPr>
          <p:cNvPr id="12" name="Image 3" descr="/home/user/DOBERMAN-/.eval-scripts/pptx-build/icons/check-30D158.png">    </p:cNvPr>
          <p:cNvPicPr>
            <a:picLocks noChangeAspect="1"/>
          </p:cNvPicPr>
          <p:nvPr/>
        </p:nvPicPr>
        <p:blipFill>
          <a:blip r:embed="rId4"/>
          <a:stretch>
            <a:fillRect/>
          </a:stretch>
        </p:blipFill>
        <p:spPr>
          <a:xfrm>
            <a:off x="640080" y="4206240"/>
            <a:ext cx="320040" cy="320040"/>
          </a:xfrm>
          <a:prstGeom prst="rect">
            <a:avLst/>
          </a:prstGeom>
        </p:spPr>
      </p:pic>
      <p:sp>
        <p:nvSpPr>
          <p:cNvPr id="13" name="Text 7"/>
          <p:cNvSpPr/>
          <p:nvPr/>
        </p:nvSpPr>
        <p:spPr>
          <a:xfrm>
            <a:off x="1143000" y="4160520"/>
            <a:ext cx="4846320" cy="41148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Phones: explicitly "unavailable"</a:t>
            </a:r>
            <a:endParaRPr lang="en-US" sz="1400" dirty="0"/>
          </a:p>
        </p:txBody>
      </p:sp>
      <p:sp>
        <p:nvSpPr>
          <p:cNvPr id="14" name="Text 8"/>
          <p:cNvSpPr/>
          <p:nvPr/>
        </p:nvSpPr>
        <p:spPr>
          <a:xfrm>
            <a:off x="1143000" y="4572000"/>
            <a:ext cx="4846320" cy="73152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No verified data source exists for this lookup, so the function says so — verified directly in source, not inferred.</a:t>
            </a:r>
            <a:endParaRPr lang="en-US" sz="1100" dirty="0"/>
          </a:p>
        </p:txBody>
      </p:sp>
      <p:sp>
        <p:nvSpPr>
          <p:cNvPr id="15" name="Text 9"/>
          <p:cNvSpPr/>
          <p:nvPr/>
        </p:nvSpPr>
        <p:spPr>
          <a:xfrm>
            <a:off x="6309360" y="4956048"/>
            <a:ext cx="5212080" cy="27432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Simulated result shown — HIBP unreachable from this sandbox</a:t>
            </a:r>
            <a:endParaRPr lang="en-US" sz="900" dirty="0"/>
          </a:p>
        </p:txBody>
      </p:sp>
      <p:sp>
        <p:nvSpPr>
          <p:cNvPr id="16" name="Text 10"/>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0A84FF"/>
                </a:solidFill>
                <a:latin typeface="Courier New" pitchFamily="34" charset="0"/>
                <a:ea typeface="Courier New" pitchFamily="34" charset="-122"/>
                <a:cs typeface="Courier New" pitchFamily="34" charset="-120"/>
              </a:rPr>
              <a:t>MODULE SPOTLIGHT</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2700" b="1" dirty="0">
                <a:solidFill>
                  <a:srgbClr val="FFFFFF"/>
                </a:solidFill>
                <a:latin typeface="Bookman Old Style" pitchFamily="34" charset="0"/>
                <a:ea typeface="Bookman Old Style" pitchFamily="34" charset="-122"/>
                <a:cs typeface="Bookman Old Style" pitchFamily="34" charset="-120"/>
              </a:rPr>
              <a:t>Scam Link · News Intelligence · Cyber Globe</a:t>
            </a:r>
            <a:endParaRPr lang="en-US" sz="2700" dirty="0"/>
          </a:p>
        </p:txBody>
      </p:sp>
      <p:pic>
        <p:nvPicPr>
          <p:cNvPr id="4" name="Image 0" descr="/home/user/DOBERMAN-/.eval-scripts/pptx-build/shots/13-globe.png">    </p:cNvPr>
          <p:cNvPicPr>
            <a:picLocks noChangeAspect="1"/>
          </p:cNvPicPr>
          <p:nvPr/>
        </p:nvPicPr>
        <p:blipFill>
          <a:blip r:embed="rId1"/>
          <a:srcRect l="0" r="0" t="0" b="0"/>
          <a:stretch/>
        </p:blipFill>
        <p:spPr>
          <a:xfrm>
            <a:off x="640080" y="1691640"/>
            <a:ext cx="10881360" cy="2286000"/>
          </a:xfrm>
          <a:prstGeom prst="rect">
            <a:avLst/>
          </a:prstGeom>
        </p:spPr>
      </p:pic>
      <p:sp>
        <p:nvSpPr>
          <p:cNvPr id="5" name="Shape 2"/>
          <p:cNvSpPr/>
          <p:nvPr/>
        </p:nvSpPr>
        <p:spPr>
          <a:xfrm>
            <a:off x="640080" y="1691640"/>
            <a:ext cx="10881360" cy="2286000"/>
          </a:xfrm>
          <a:prstGeom prst="roundRect">
            <a:avLst>
              <a:gd name="adj" fmla="val 2000"/>
            </a:avLst>
          </a:prstGeom>
          <a:ln w="12700">
            <a:solidFill>
              <a:srgbClr val="2A2F3A"/>
            </a:solidFill>
            <a:prstDash val="solid"/>
          </a:ln>
        </p:spPr>
      </p:sp>
      <p:sp>
        <p:nvSpPr>
          <p:cNvPr id="6" name="Text 3"/>
          <p:cNvSpPr/>
          <p:nvPr/>
        </p:nvSpPr>
        <p:spPr>
          <a:xfrm>
            <a:off x="640080" y="4251960"/>
            <a:ext cx="352044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Scam Link Analyzer</a:t>
            </a:r>
            <a:endParaRPr lang="en-US" sz="1400" dirty="0"/>
          </a:p>
        </p:txBody>
      </p:sp>
      <p:sp>
        <p:nvSpPr>
          <p:cNvPr id="7" name="Text 4"/>
          <p:cNvSpPr/>
          <p:nvPr/>
        </p:nvSpPr>
        <p:spPr>
          <a:xfrm>
            <a:off x="640080" y="4617720"/>
            <a:ext cx="3520440" cy="109728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Lexical + domain indicators (lookalike brands, high-abuse TLDs) scored and named, not just classified.</a:t>
            </a:r>
            <a:endParaRPr lang="en-US" sz="1100" dirty="0"/>
          </a:p>
        </p:txBody>
      </p:sp>
      <p:sp>
        <p:nvSpPr>
          <p:cNvPr id="8" name="Text 5"/>
          <p:cNvSpPr/>
          <p:nvPr/>
        </p:nvSpPr>
        <p:spPr>
          <a:xfrm>
            <a:off x="4297680" y="4251960"/>
            <a:ext cx="352044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NEWS: feed, verify, and chat</a:t>
            </a:r>
            <a:endParaRPr lang="en-US" sz="1400" dirty="0"/>
          </a:p>
        </p:txBody>
      </p:sp>
      <p:sp>
        <p:nvSpPr>
          <p:cNvPr id="9" name="Text 6"/>
          <p:cNvSpPr/>
          <p:nvPr/>
        </p:nvSpPr>
        <p:spPr>
          <a:xfrm>
            <a:off x="4297680" y="4617720"/>
            <a:ext cx="3520440" cy="109728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A live cyber-news feed, a credibility verifier, and a separate per-article conversational analyst.</a:t>
            </a:r>
            <a:endParaRPr lang="en-US" sz="1100" dirty="0"/>
          </a:p>
        </p:txBody>
      </p:sp>
      <p:sp>
        <p:nvSpPr>
          <p:cNvPr id="10" name="Text 7"/>
          <p:cNvSpPr/>
          <p:nvPr/>
        </p:nvSpPr>
        <p:spPr>
          <a:xfrm>
            <a:off x="7955280" y="4251960"/>
            <a:ext cx="352044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Cyber Globe</a:t>
            </a:r>
            <a:endParaRPr lang="en-US" sz="1400" dirty="0"/>
          </a:p>
        </p:txBody>
      </p:sp>
      <p:sp>
        <p:nvSpPr>
          <p:cNvPr id="11" name="Text 8"/>
          <p:cNvSpPr/>
          <p:nvPr/>
        </p:nvSpPr>
        <p:spPr>
          <a:xfrm>
            <a:off x="7955280" y="4617720"/>
            <a:ext cx="3520440" cy="109728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Cached, 24h-TTL country threat briefs — prompt explicitly forbids inventing statistics for low-profile countries.</a:t>
            </a:r>
            <a:endParaRPr lang="en-US" sz="1100" dirty="0"/>
          </a:p>
        </p:txBody>
      </p:sp>
      <p:sp>
        <p:nvSpPr>
          <p:cNvPr id="12" name="Text 9"/>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30D158"/>
                </a:solidFill>
                <a:latin typeface="Courier New" pitchFamily="34" charset="0"/>
                <a:ea typeface="Courier New" pitchFamily="34" charset="-122"/>
                <a:cs typeface="Courier New" pitchFamily="34" charset="-120"/>
              </a:rPr>
              <a:t>SECURITY REVIEW</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2900" b="1" dirty="0">
                <a:solidFill>
                  <a:srgbClr val="FFFFFF"/>
                </a:solidFill>
                <a:latin typeface="Bookman Old Style" pitchFamily="34" charset="0"/>
                <a:ea typeface="Bookman Old Style" pitchFamily="34" charset="-122"/>
                <a:cs typeface="Bookman Old Style" pitchFamily="34" charset="-120"/>
              </a:rPr>
              <a:t>Verified directly against the live deployment</a:t>
            </a:r>
            <a:endParaRPr lang="en-US" sz="2900" dirty="0"/>
          </a:p>
        </p:txBody>
      </p:sp>
      <p:sp>
        <p:nvSpPr>
          <p:cNvPr id="4" name="Shape 2"/>
          <p:cNvSpPr/>
          <p:nvPr/>
        </p:nvSpPr>
        <p:spPr>
          <a:xfrm>
            <a:off x="640080" y="1874520"/>
            <a:ext cx="5303520" cy="1783080"/>
          </a:xfrm>
          <a:prstGeom prst="roundRect">
            <a:avLst>
              <a:gd name="adj" fmla="val 5128"/>
            </a:avLst>
          </a:prstGeom>
          <a:solidFill>
            <a:srgbClr val="1B1F29"/>
          </a:solidFill>
          <a:ln/>
        </p:spPr>
      </p:sp>
      <p:pic>
        <p:nvPicPr>
          <p:cNvPr id="5" name="Image 0" descr="/home/user/DOBERMAN-/.eval-scripts/pptx-build/icons/shield-30D158.png">    </p:cNvPr>
          <p:cNvPicPr>
            <a:picLocks noChangeAspect="1"/>
          </p:cNvPicPr>
          <p:nvPr/>
        </p:nvPicPr>
        <p:blipFill>
          <a:blip r:embed="rId1"/>
          <a:stretch>
            <a:fillRect/>
          </a:stretch>
        </p:blipFill>
        <p:spPr>
          <a:xfrm>
            <a:off x="914400" y="2148840"/>
            <a:ext cx="411480" cy="411480"/>
          </a:xfrm>
          <a:prstGeom prst="rect">
            <a:avLst/>
          </a:prstGeom>
        </p:spPr>
      </p:pic>
      <p:sp>
        <p:nvSpPr>
          <p:cNvPr id="6" name="Text 3"/>
          <p:cNvSpPr/>
          <p:nvPr/>
        </p:nvSpPr>
        <p:spPr>
          <a:xfrm>
            <a:off x="914400" y="2697480"/>
            <a:ext cx="4754880" cy="41148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Row-level security on every table</a:t>
            </a:r>
            <a:endParaRPr lang="en-US" sz="1400" dirty="0"/>
          </a:p>
        </p:txBody>
      </p:sp>
      <p:sp>
        <p:nvSpPr>
          <p:cNvPr id="7" name="Text 4"/>
          <p:cNvSpPr/>
          <p:nvPr/>
        </p:nvSpPr>
        <p:spPr>
          <a:xfrm>
            <a:off x="914400" y="3108960"/>
            <a:ext cx="4754880" cy="50292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Confirmed via direct inspection of the live Supabase project — not assumed from migration files.</a:t>
            </a:r>
            <a:endParaRPr lang="en-US" sz="1100" dirty="0"/>
          </a:p>
        </p:txBody>
      </p:sp>
      <p:sp>
        <p:nvSpPr>
          <p:cNvPr id="8" name="Shape 5"/>
          <p:cNvSpPr/>
          <p:nvPr/>
        </p:nvSpPr>
        <p:spPr>
          <a:xfrm>
            <a:off x="6217920" y="1874520"/>
            <a:ext cx="5303520" cy="1783080"/>
          </a:xfrm>
          <a:prstGeom prst="roundRect">
            <a:avLst>
              <a:gd name="adj" fmla="val 5128"/>
            </a:avLst>
          </a:prstGeom>
          <a:solidFill>
            <a:srgbClr val="1B1F29"/>
          </a:solidFill>
          <a:ln/>
        </p:spPr>
      </p:sp>
      <p:pic>
        <p:nvPicPr>
          <p:cNvPr id="9" name="Image 1" descr="/home/user/DOBERMAN-/.eval-scripts/pptx-build/icons/shield-30D158.png">    </p:cNvPr>
          <p:cNvPicPr>
            <a:picLocks noChangeAspect="1"/>
          </p:cNvPicPr>
          <p:nvPr/>
        </p:nvPicPr>
        <p:blipFill>
          <a:blip r:embed="rId2"/>
          <a:stretch>
            <a:fillRect/>
          </a:stretch>
        </p:blipFill>
        <p:spPr>
          <a:xfrm>
            <a:off x="6492240" y="2148840"/>
            <a:ext cx="411480" cy="411480"/>
          </a:xfrm>
          <a:prstGeom prst="rect">
            <a:avLst/>
          </a:prstGeom>
        </p:spPr>
      </p:pic>
      <p:sp>
        <p:nvSpPr>
          <p:cNvPr id="10" name="Text 6"/>
          <p:cNvSpPr/>
          <p:nvPr/>
        </p:nvSpPr>
        <p:spPr>
          <a:xfrm>
            <a:off x="6492240" y="2697480"/>
            <a:ext cx="4754880" cy="41148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provider secret in the client bundle</a:t>
            </a:r>
            <a:endParaRPr lang="en-US" sz="1400" dirty="0"/>
          </a:p>
        </p:txBody>
      </p:sp>
      <p:sp>
        <p:nvSpPr>
          <p:cNvPr id="11" name="Text 7"/>
          <p:cNvSpPr/>
          <p:nvPr/>
        </p:nvSpPr>
        <p:spPr>
          <a:xfrm>
            <a:off x="6492240" y="3108960"/>
            <a:ext cx="4754880" cy="50292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Every Claude / Gemini / Hive / HIBP key is read server-side only, inside an edge function.</a:t>
            </a:r>
            <a:endParaRPr lang="en-US" sz="1100" dirty="0"/>
          </a:p>
        </p:txBody>
      </p:sp>
      <p:sp>
        <p:nvSpPr>
          <p:cNvPr id="12" name="Shape 8"/>
          <p:cNvSpPr/>
          <p:nvPr/>
        </p:nvSpPr>
        <p:spPr>
          <a:xfrm>
            <a:off x="640080" y="3886200"/>
            <a:ext cx="5303520" cy="1783080"/>
          </a:xfrm>
          <a:prstGeom prst="roundRect">
            <a:avLst>
              <a:gd name="adj" fmla="val 5128"/>
            </a:avLst>
          </a:prstGeom>
          <a:solidFill>
            <a:srgbClr val="1B1F29"/>
          </a:solidFill>
          <a:ln/>
        </p:spPr>
      </p:sp>
      <p:pic>
        <p:nvPicPr>
          <p:cNvPr id="13" name="Image 2" descr="/home/user/DOBERMAN-/.eval-scripts/pptx-build/icons/shield-30D158.png">    </p:cNvPr>
          <p:cNvPicPr>
            <a:picLocks noChangeAspect="1"/>
          </p:cNvPicPr>
          <p:nvPr/>
        </p:nvPicPr>
        <p:blipFill>
          <a:blip r:embed="rId3"/>
          <a:stretch>
            <a:fillRect/>
          </a:stretch>
        </p:blipFill>
        <p:spPr>
          <a:xfrm>
            <a:off x="914400" y="4160520"/>
            <a:ext cx="411480" cy="411480"/>
          </a:xfrm>
          <a:prstGeom prst="rect">
            <a:avLst/>
          </a:prstGeom>
        </p:spPr>
      </p:pic>
      <p:sp>
        <p:nvSpPr>
          <p:cNvPr id="14" name="Text 9"/>
          <p:cNvSpPr/>
          <p:nvPr/>
        </p:nvSpPr>
        <p:spPr>
          <a:xfrm>
            <a:off x="914400" y="4709160"/>
            <a:ext cx="4754880" cy="41148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Rate limit removed, verified in source</a:t>
            </a:r>
            <a:endParaRPr lang="en-US" sz="1400" dirty="0"/>
          </a:p>
        </p:txBody>
      </p:sp>
      <p:sp>
        <p:nvSpPr>
          <p:cNvPr id="15" name="Text 10"/>
          <p:cNvSpPr/>
          <p:nvPr/>
        </p:nvSpPr>
        <p:spPr>
          <a:xfrm>
            <a:off x="914400" y="5120640"/>
            <a:ext cx="4754880" cy="50292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Daily scan caps were deliberately removed during dev. usage_logs still audits — it no longer gates. Cost exposure now rests on provider quotas.</a:t>
            </a:r>
            <a:endParaRPr lang="en-US" sz="1100" dirty="0"/>
          </a:p>
        </p:txBody>
      </p:sp>
      <p:sp>
        <p:nvSpPr>
          <p:cNvPr id="16" name="Shape 11"/>
          <p:cNvSpPr/>
          <p:nvPr/>
        </p:nvSpPr>
        <p:spPr>
          <a:xfrm>
            <a:off x="6217920" y="3886200"/>
            <a:ext cx="5303520" cy="1783080"/>
          </a:xfrm>
          <a:prstGeom prst="roundRect">
            <a:avLst>
              <a:gd name="adj" fmla="val 5128"/>
            </a:avLst>
          </a:prstGeom>
          <a:solidFill>
            <a:srgbClr val="1B1F29"/>
          </a:solidFill>
          <a:ln/>
        </p:spPr>
      </p:sp>
      <p:pic>
        <p:nvPicPr>
          <p:cNvPr id="17" name="Image 3" descr="/home/user/DOBERMAN-/.eval-scripts/pptx-build/icons/shield-30D158.png">    </p:cNvPr>
          <p:cNvPicPr>
            <a:picLocks noChangeAspect="1"/>
          </p:cNvPicPr>
          <p:nvPr/>
        </p:nvPicPr>
        <p:blipFill>
          <a:blip r:embed="rId4"/>
          <a:stretch>
            <a:fillRect/>
          </a:stretch>
        </p:blipFill>
        <p:spPr>
          <a:xfrm>
            <a:off x="6492240" y="4160520"/>
            <a:ext cx="411480" cy="411480"/>
          </a:xfrm>
          <a:prstGeom prst="rect">
            <a:avLst/>
          </a:prstGeom>
        </p:spPr>
      </p:pic>
      <p:sp>
        <p:nvSpPr>
          <p:cNvPr id="18" name="Text 12"/>
          <p:cNvSpPr/>
          <p:nvPr/>
        </p:nvSpPr>
        <p:spPr>
          <a:xfrm>
            <a:off x="6492240" y="4709160"/>
            <a:ext cx="4754880" cy="41148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Explicit "unavailable" over fabrication</a:t>
            </a:r>
            <a:endParaRPr lang="en-US" sz="1400" dirty="0"/>
          </a:p>
        </p:txBody>
      </p:sp>
      <p:sp>
        <p:nvSpPr>
          <p:cNvPr id="19" name="Text 13"/>
          <p:cNvSpPr/>
          <p:nvPr/>
        </p:nvSpPr>
        <p:spPr>
          <a:xfrm>
            <a:off x="6492240" y="5120640"/>
            <a:ext cx="4754880" cy="502920"/>
          </a:xfrm>
          <a:prstGeom prst="rect">
            <a:avLst/>
          </a:prstGeom>
          <a:noFill/>
          <a:ln/>
        </p:spPr>
        <p:txBody>
          <a:bodyPr wrap="square" rtlCol="0" anchor="ctr"/>
          <a:lstStyle/>
          <a:p>
            <a:pPr indent="0" marL="0">
              <a:buNone/>
            </a:pPr>
            <a:r>
              <a:rPr lang="en-US" sz="1100" dirty="0">
                <a:solidFill>
                  <a:srgbClr val="9BA3AF"/>
                </a:solidFill>
                <a:latin typeface="Calibri" pitchFamily="34" charset="0"/>
                <a:ea typeface="Calibri" pitchFamily="34" charset="-122"/>
                <a:cs typeface="Calibri" pitchFamily="34" charset="-120"/>
              </a:rPr>
              <a:t>Confirmed in source: Breach Detection and Cyber Globe both decline to invent a result.</a:t>
            </a:r>
            <a:endParaRPr lang="en-US" sz="1100" dirty="0"/>
          </a:p>
        </p:txBody>
      </p:sp>
      <p:sp>
        <p:nvSpPr>
          <p:cNvPr id="20" name="Text 14"/>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FF9F0A"/>
                </a:solidFill>
                <a:latin typeface="Courier New" pitchFamily="34" charset="0"/>
                <a:ea typeface="Courier New" pitchFamily="34" charset="-122"/>
                <a:cs typeface="Courier New" pitchFamily="34" charset="-120"/>
              </a:rPr>
              <a:t>METHODOLOGY</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2900" b="1" dirty="0">
                <a:solidFill>
                  <a:srgbClr val="FFFFFF"/>
                </a:solidFill>
                <a:latin typeface="Bookman Old Style" pitchFamily="34" charset="0"/>
                <a:ea typeface="Bookman Old Style" pitchFamily="34" charset="-122"/>
                <a:cs typeface="Bookman Old Style" pitchFamily="34" charset="-120"/>
              </a:rPr>
              <a:t>What this report can and cannot claim</a:t>
            </a:r>
            <a:endParaRPr lang="en-US" sz="2900" dirty="0"/>
          </a:p>
        </p:txBody>
      </p:sp>
      <p:sp>
        <p:nvSpPr>
          <p:cNvPr id="4" name="Shape 2"/>
          <p:cNvSpPr/>
          <p:nvPr/>
        </p:nvSpPr>
        <p:spPr>
          <a:xfrm>
            <a:off x="640080" y="1737360"/>
            <a:ext cx="5257800" cy="4206240"/>
          </a:xfrm>
          <a:prstGeom prst="roundRect">
            <a:avLst>
              <a:gd name="adj" fmla="val 2174"/>
            </a:avLst>
          </a:prstGeom>
          <a:solidFill>
            <a:srgbClr val="132A1D"/>
          </a:solidFill>
          <a:ln w="12700">
            <a:solidFill>
              <a:srgbClr val="30D158"/>
            </a:solidFill>
            <a:prstDash val="solid"/>
          </a:ln>
        </p:spPr>
      </p:sp>
      <p:sp>
        <p:nvSpPr>
          <p:cNvPr id="5" name="Text 3"/>
          <p:cNvSpPr/>
          <p:nvPr/>
        </p:nvSpPr>
        <p:spPr>
          <a:xfrm>
            <a:off x="914400" y="1965960"/>
            <a:ext cx="4572000" cy="365760"/>
          </a:xfrm>
          <a:prstGeom prst="rect">
            <a:avLst/>
          </a:prstGeom>
          <a:noFill/>
          <a:ln/>
        </p:spPr>
        <p:txBody>
          <a:bodyPr wrap="square" rtlCol="0" anchor="ctr"/>
          <a:lstStyle/>
          <a:p>
            <a:pPr indent="0" marL="0">
              <a:buNone/>
            </a:pPr>
            <a:r>
              <a:rPr lang="en-US" sz="1300" b="1" spc="200" kern="0" dirty="0">
                <a:solidFill>
                  <a:srgbClr val="30D158"/>
                </a:solidFill>
                <a:latin typeface="Courier New" pitchFamily="34" charset="0"/>
                <a:ea typeface="Courier New" pitchFamily="34" charset="-122"/>
                <a:cs typeface="Courier New" pitchFamily="34" charset="-120"/>
              </a:rPr>
              <a:t>REAL EVIDENCE</a:t>
            </a:r>
            <a:endParaRPr lang="en-US" sz="1300" dirty="0"/>
          </a:p>
        </p:txBody>
      </p:sp>
      <p:sp>
        <p:nvSpPr>
          <p:cNvPr id="6" name="Text 4"/>
          <p:cNvSpPr/>
          <p:nvPr/>
        </p:nvSpPr>
        <p:spPr>
          <a:xfrm>
            <a:off x="914400" y="2468880"/>
            <a:ext cx="475488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26 real EYES scans pulled from production DB</a:t>
            </a:r>
            <a:endParaRPr lang="en-US" sz="1300" dirty="0"/>
          </a:p>
        </p:txBody>
      </p:sp>
      <p:sp>
        <p:nvSpPr>
          <p:cNvPr id="7" name="Text 5"/>
          <p:cNvSpPr/>
          <p:nvPr/>
        </p:nvSpPr>
        <p:spPr>
          <a:xfrm>
            <a:off x="914400" y="3035808"/>
            <a:ext cx="475488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2 self-evident ChatGPT images, correctly flagged</a:t>
            </a:r>
            <a:endParaRPr lang="en-US" sz="1300" dirty="0"/>
          </a:p>
        </p:txBody>
      </p:sp>
      <p:sp>
        <p:nvSpPr>
          <p:cNvPr id="8" name="Text 6"/>
          <p:cNvSpPr/>
          <p:nvPr/>
        </p:nvSpPr>
        <p:spPr>
          <a:xfrm>
            <a:off x="914400" y="3602736"/>
            <a:ext cx="475488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Real DAYE chat, real repeated NEWS verify</a:t>
            </a:r>
            <a:endParaRPr lang="en-US" sz="1300" dirty="0"/>
          </a:p>
        </p:txBody>
      </p:sp>
      <p:sp>
        <p:nvSpPr>
          <p:cNvPr id="9" name="Text 7"/>
          <p:cNvSpPr/>
          <p:nvPr/>
        </p:nvSpPr>
        <p:spPr>
          <a:xfrm>
            <a:off x="914400" y="4169664"/>
            <a:ext cx="475488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6 of 9 modules have genuine historical data</a:t>
            </a:r>
            <a:endParaRPr lang="en-US" sz="1300" dirty="0"/>
          </a:p>
        </p:txBody>
      </p:sp>
      <p:sp>
        <p:nvSpPr>
          <p:cNvPr id="10" name="Shape 8"/>
          <p:cNvSpPr/>
          <p:nvPr/>
        </p:nvSpPr>
        <p:spPr>
          <a:xfrm>
            <a:off x="6263640" y="1737360"/>
            <a:ext cx="5257800" cy="4206240"/>
          </a:xfrm>
          <a:prstGeom prst="roundRect">
            <a:avLst>
              <a:gd name="adj" fmla="val 2174"/>
            </a:avLst>
          </a:prstGeom>
          <a:solidFill>
            <a:srgbClr val="2E1610"/>
          </a:solidFill>
          <a:ln w="12700">
            <a:solidFill>
              <a:srgbClr val="FF3B30"/>
            </a:solidFill>
            <a:prstDash val="solid"/>
          </a:ln>
        </p:spPr>
      </p:sp>
      <p:sp>
        <p:nvSpPr>
          <p:cNvPr id="11" name="Text 9"/>
          <p:cNvSpPr/>
          <p:nvPr/>
        </p:nvSpPr>
        <p:spPr>
          <a:xfrm>
            <a:off x="6537960" y="1965960"/>
            <a:ext cx="4572000" cy="365760"/>
          </a:xfrm>
          <a:prstGeom prst="rect">
            <a:avLst/>
          </a:prstGeom>
          <a:noFill/>
          <a:ln/>
        </p:spPr>
        <p:txBody>
          <a:bodyPr wrap="square" rtlCol="0" anchor="ctr"/>
          <a:lstStyle/>
          <a:p>
            <a:pPr indent="0" marL="0">
              <a:buNone/>
            </a:pPr>
            <a:r>
              <a:rPr lang="en-US" sz="1300" b="1" spc="200" kern="0" dirty="0">
                <a:solidFill>
                  <a:srgbClr val="FF3B30"/>
                </a:solidFill>
                <a:latin typeface="Courier New" pitchFamily="34" charset="0"/>
                <a:ea typeface="Courier New" pitchFamily="34" charset="-122"/>
                <a:cs typeface="Courier New" pitchFamily="34" charset="-120"/>
              </a:rPr>
              <a:t>NOT CLAIMED</a:t>
            </a:r>
            <a:endParaRPr lang="en-US" sz="1300" dirty="0"/>
          </a:p>
        </p:txBody>
      </p:sp>
      <p:sp>
        <p:nvSpPr>
          <p:cNvPr id="12" name="Text 10"/>
          <p:cNvSpPr/>
          <p:nvPr/>
        </p:nvSpPr>
        <p:spPr>
          <a:xfrm>
            <a:off x="6537960" y="2468880"/>
            <a:ext cx="475488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Measured accuracy / false-positive rate</a:t>
            </a:r>
            <a:endParaRPr lang="en-US" sz="1300" dirty="0"/>
          </a:p>
        </p:txBody>
      </p:sp>
      <p:sp>
        <p:nvSpPr>
          <p:cNvPr id="13" name="Text 11"/>
          <p:cNvSpPr/>
          <p:nvPr/>
        </p:nvSpPr>
        <p:spPr>
          <a:xfrm>
            <a:off x="6537960" y="3035808"/>
            <a:ext cx="475488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NOSE, Voice, Scam Link — zero real usage</a:t>
            </a:r>
            <a:endParaRPr lang="en-US" sz="1300" dirty="0"/>
          </a:p>
        </p:txBody>
      </p:sp>
      <p:sp>
        <p:nvSpPr>
          <p:cNvPr id="14" name="Text 12"/>
          <p:cNvSpPr/>
          <p:nvPr/>
        </p:nvSpPr>
        <p:spPr>
          <a:xfrm>
            <a:off x="6537960" y="3602736"/>
            <a:ext cx="475488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Live penetration testing outcomes</a:t>
            </a:r>
            <a:endParaRPr lang="en-US" sz="1300" dirty="0"/>
          </a:p>
        </p:txBody>
      </p:sp>
      <p:sp>
        <p:nvSpPr>
          <p:cNvPr id="15" name="Text 13"/>
          <p:cNvSpPr/>
          <p:nvPr/>
        </p:nvSpPr>
        <p:spPr>
          <a:xfrm>
            <a:off x="6537960" y="4169664"/>
            <a:ext cx="4754880" cy="50292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  Real, consented user-acceptance testing</a:t>
            </a:r>
            <a:endParaRPr lang="en-US" sz="1300" dirty="0"/>
          </a:p>
        </p:txBody>
      </p:sp>
      <p:sp>
        <p:nvSpPr>
          <p:cNvPr id="16" name="Text 14"/>
          <p:cNvSpPr/>
          <p:nvPr/>
        </p:nvSpPr>
        <p:spPr>
          <a:xfrm>
            <a:off x="640080" y="6080760"/>
            <a:ext cx="10881360" cy="457200"/>
          </a:xfrm>
          <a:prstGeom prst="rect">
            <a:avLst/>
          </a:prstGeom>
          <a:noFill/>
          <a:ln/>
        </p:spPr>
        <p:txBody>
          <a:bodyPr wrap="square" rtlCol="0" anchor="ctr"/>
          <a:lstStyle/>
          <a:p>
            <a:pPr indent="0" marL="0">
              <a:buNone/>
            </a:pPr>
            <a:r>
              <a:rPr lang="en-US" sz="1100" i="1" dirty="0">
                <a:solidFill>
                  <a:srgbClr val="9BA3AF"/>
                </a:solidFill>
                <a:latin typeface="Calibri" pitchFamily="34" charset="0"/>
                <a:ea typeface="Calibri" pitchFamily="34" charset="-122"/>
                <a:cs typeface="Calibri" pitchFamily="34" charset="-120"/>
              </a:rPr>
              <a:t>Real data was pulled directly from the production database via the Supabase management API and replayed through the real frontend — live login to production was not reachable from this sandbox.</a:t>
            </a:r>
            <a:endParaRPr lang="en-US" sz="1100" dirty="0"/>
          </a:p>
        </p:txBody>
      </p:sp>
      <p:sp>
        <p:nvSpPr>
          <p:cNvPr id="17" name="Text 15"/>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0A84FF"/>
                </a:solidFill>
                <a:latin typeface="Courier New" pitchFamily="34" charset="0"/>
                <a:ea typeface="Courier New" pitchFamily="34" charset="-122"/>
                <a:cs typeface="Courier New" pitchFamily="34" charset="-120"/>
              </a:rPr>
              <a:t>EVIDENCE</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2800" b="1" dirty="0">
                <a:solidFill>
                  <a:srgbClr val="FFFFFF"/>
                </a:solidFill>
                <a:latin typeface="Bookman Old Style" pitchFamily="34" charset="0"/>
                <a:ea typeface="Bookman Old Style" pitchFamily="34" charset="-122"/>
                <a:cs typeface="Bookman Old Style" pitchFamily="34" charset="-120"/>
              </a:rPr>
              <a:t>Real production data, real screenshots</a:t>
            </a:r>
            <a:endParaRPr lang="en-US" sz="2800" dirty="0"/>
          </a:p>
        </p:txBody>
      </p:sp>
      <p:pic>
        <p:nvPicPr>
          <p:cNvPr id="4" name="Image 0" descr="/home/user/DOBERMAN-/.eval-scripts/pptx-build/shots/real-01-eyes-history.png">    </p:cNvPr>
          <p:cNvPicPr>
            <a:picLocks noChangeAspect="1"/>
          </p:cNvPicPr>
          <p:nvPr/>
        </p:nvPicPr>
        <p:blipFill>
          <a:blip r:embed="rId1"/>
          <a:srcRect l="0" r="0" t="0" b="0"/>
          <a:stretch/>
        </p:blipFill>
        <p:spPr>
          <a:xfrm>
            <a:off x="640080" y="1691640"/>
            <a:ext cx="3520440" cy="2240280"/>
          </a:xfrm>
          <a:prstGeom prst="rect">
            <a:avLst/>
          </a:prstGeom>
        </p:spPr>
      </p:pic>
      <p:sp>
        <p:nvSpPr>
          <p:cNvPr id="5" name="Shape 2"/>
          <p:cNvSpPr/>
          <p:nvPr/>
        </p:nvSpPr>
        <p:spPr>
          <a:xfrm>
            <a:off x="640080" y="1691640"/>
            <a:ext cx="3520440" cy="2240280"/>
          </a:xfrm>
          <a:prstGeom prst="roundRect">
            <a:avLst>
              <a:gd name="adj" fmla="val 2041"/>
            </a:avLst>
          </a:prstGeom>
          <a:ln w="12700">
            <a:solidFill>
              <a:srgbClr val="2A2F3A"/>
            </a:solidFill>
            <a:prstDash val="solid"/>
          </a:ln>
        </p:spPr>
      </p:sp>
      <p:sp>
        <p:nvSpPr>
          <p:cNvPr id="6" name="Text 3"/>
          <p:cNvSpPr/>
          <p:nvPr/>
        </p:nvSpPr>
        <p:spPr>
          <a:xfrm>
            <a:off x="640080" y="4023360"/>
            <a:ext cx="352044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26 real EYES scans</a:t>
            </a:r>
            <a:endParaRPr lang="en-US" sz="1200" dirty="0"/>
          </a:p>
        </p:txBody>
      </p:sp>
      <p:pic>
        <p:nvPicPr>
          <p:cNvPr id="7" name="Image 1" descr="/home/user/DOBERMAN-/.eval-scripts/pptx-build/shots/real-06-history.png">    </p:cNvPr>
          <p:cNvPicPr>
            <a:picLocks noChangeAspect="1"/>
          </p:cNvPicPr>
          <p:nvPr/>
        </p:nvPicPr>
        <p:blipFill>
          <a:blip r:embed="rId2"/>
          <a:srcRect l="0" r="0" t="0" b="0"/>
          <a:stretch/>
        </p:blipFill>
        <p:spPr>
          <a:xfrm>
            <a:off x="4297680" y="1691640"/>
            <a:ext cx="3520440" cy="2240280"/>
          </a:xfrm>
          <a:prstGeom prst="rect">
            <a:avLst/>
          </a:prstGeom>
        </p:spPr>
      </p:pic>
      <p:sp>
        <p:nvSpPr>
          <p:cNvPr id="8" name="Shape 4"/>
          <p:cNvSpPr/>
          <p:nvPr/>
        </p:nvSpPr>
        <p:spPr>
          <a:xfrm>
            <a:off x="4297680" y="1691640"/>
            <a:ext cx="3520440" cy="2240280"/>
          </a:xfrm>
          <a:prstGeom prst="roundRect">
            <a:avLst>
              <a:gd name="adj" fmla="val 2041"/>
            </a:avLst>
          </a:prstGeom>
          <a:ln w="12700">
            <a:solidFill>
              <a:srgbClr val="2A2F3A"/>
            </a:solidFill>
            <a:prstDash val="solid"/>
          </a:ln>
        </p:spPr>
      </p:sp>
      <p:sp>
        <p:nvSpPr>
          <p:cNvPr id="9" name="Text 5"/>
          <p:cNvSpPr/>
          <p:nvPr/>
        </p:nvSpPr>
        <p:spPr>
          <a:xfrm>
            <a:off x="4297680" y="4023360"/>
            <a:ext cx="352044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Real aggregated History</a:t>
            </a:r>
            <a:endParaRPr lang="en-US" sz="1200" dirty="0"/>
          </a:p>
        </p:txBody>
      </p:sp>
      <p:pic>
        <p:nvPicPr>
          <p:cNvPr id="10" name="Image 2" descr="/home/user/DOBERMAN-/.eval-scripts/pptx-build/shots/real-08-breach.png">    </p:cNvPr>
          <p:cNvPicPr>
            <a:picLocks noChangeAspect="1"/>
          </p:cNvPicPr>
          <p:nvPr/>
        </p:nvPicPr>
        <p:blipFill>
          <a:blip r:embed="rId3"/>
          <a:srcRect l="0" r="0" t="0" b="0"/>
          <a:stretch/>
        </p:blipFill>
        <p:spPr>
          <a:xfrm>
            <a:off x="7955280" y="1691640"/>
            <a:ext cx="3520440" cy="2240280"/>
          </a:xfrm>
          <a:prstGeom prst="rect">
            <a:avLst/>
          </a:prstGeom>
        </p:spPr>
      </p:pic>
      <p:sp>
        <p:nvSpPr>
          <p:cNvPr id="11" name="Shape 6"/>
          <p:cNvSpPr/>
          <p:nvPr/>
        </p:nvSpPr>
        <p:spPr>
          <a:xfrm>
            <a:off x="7955280" y="1691640"/>
            <a:ext cx="3520440" cy="2240280"/>
          </a:xfrm>
          <a:prstGeom prst="roundRect">
            <a:avLst>
              <a:gd name="adj" fmla="val 2041"/>
            </a:avLst>
          </a:prstGeom>
          <a:ln w="12700">
            <a:solidFill>
              <a:srgbClr val="2A2F3A"/>
            </a:solidFill>
            <a:prstDash val="solid"/>
          </a:ln>
        </p:spPr>
      </p:sp>
      <p:sp>
        <p:nvSpPr>
          <p:cNvPr id="12" name="Text 7"/>
          <p:cNvSpPr/>
          <p:nvPr/>
        </p:nvSpPr>
        <p:spPr>
          <a:xfrm>
            <a:off x="7955280" y="4023360"/>
            <a:ext cx="3520440" cy="32004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Real Breach result</a:t>
            </a:r>
            <a:endParaRPr lang="en-US" sz="1200" dirty="0"/>
          </a:p>
        </p:txBody>
      </p:sp>
      <p:sp>
        <p:nvSpPr>
          <p:cNvPr id="13" name="Text 8"/>
          <p:cNvSpPr/>
          <p:nvPr/>
        </p:nvSpPr>
        <p:spPr>
          <a:xfrm>
            <a:off x="640080" y="4663440"/>
            <a:ext cx="10881360" cy="9144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This is the real, deployed DOBERMAN frontend, rendering real data pulled directly from the production database — real filenames, real Hive signals, real timestamps. Only the browser login is reconstructed, since live auth to production isn’t reachable from this sandbox. NOSE, Voice, and Scam Link still show simulated data — they have zero real usage to date.</a:t>
            </a:r>
            <a:endParaRPr lang="en-US" sz="1200" dirty="0"/>
          </a:p>
        </p:txBody>
      </p:sp>
      <p:sp>
        <p:nvSpPr>
          <p:cNvPr id="14" name="Text 9"/>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BF5AF2"/>
                </a:solidFill>
                <a:latin typeface="Courier New" pitchFamily="34" charset="0"/>
                <a:ea typeface="Courier New" pitchFamily="34" charset="-122"/>
                <a:cs typeface="Courier New" pitchFamily="34" charset="-120"/>
              </a:rPr>
              <a:t>CONTRIBUTION</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What DOBERMAN actually contributes</a:t>
            </a:r>
            <a:endParaRPr lang="en-US" sz="3000" dirty="0"/>
          </a:p>
        </p:txBody>
      </p:sp>
      <p:sp>
        <p:nvSpPr>
          <p:cNvPr id="4" name="Text 2"/>
          <p:cNvSpPr/>
          <p:nvPr/>
        </p:nvSpPr>
        <p:spPr>
          <a:xfrm>
            <a:off x="640080" y="1554480"/>
            <a:ext cx="10515600" cy="457200"/>
          </a:xfrm>
          <a:prstGeom prst="rect">
            <a:avLst/>
          </a:prstGeom>
          <a:noFill/>
          <a:ln/>
        </p:spPr>
        <p:txBody>
          <a:bodyPr wrap="square" rtlCol="0" anchor="ctr"/>
          <a:lstStyle/>
          <a:p>
            <a:pPr indent="0" marL="0">
              <a:buNone/>
            </a:pPr>
            <a:r>
              <a:rPr lang="en-US" sz="1300" i="1" dirty="0">
                <a:solidFill>
                  <a:srgbClr val="9BA3AF"/>
                </a:solidFill>
                <a:latin typeface="Calibri" pitchFamily="34" charset="0"/>
                <a:ea typeface="Calibri" pitchFamily="34" charset="-122"/>
                <a:cs typeface="Calibri" pitchFamily="34" charset="-120"/>
              </a:rPr>
              <a:t>DOBERMAN does not claim to have invented or trained any detection model. Hive AI, Claude, and Gemini remain third-party services.</a:t>
            </a:r>
            <a:endParaRPr lang="en-US" sz="1300" dirty="0"/>
          </a:p>
        </p:txBody>
      </p:sp>
      <p:sp>
        <p:nvSpPr>
          <p:cNvPr id="5" name="Shape 3"/>
          <p:cNvSpPr/>
          <p:nvPr/>
        </p:nvSpPr>
        <p:spPr>
          <a:xfrm>
            <a:off x="1920240" y="2377440"/>
            <a:ext cx="914400" cy="914400"/>
          </a:xfrm>
          <a:prstGeom prst="oval">
            <a:avLst/>
          </a:prstGeom>
          <a:solidFill>
            <a:srgbClr val="1B1F29"/>
          </a:solidFill>
          <a:ln w="12700">
            <a:solidFill>
              <a:srgbClr val="30D158"/>
            </a:solidFill>
            <a:prstDash val="solid"/>
          </a:ln>
        </p:spPr>
      </p:sp>
      <p:pic>
        <p:nvPicPr>
          <p:cNvPr id="6" name="Image 0" descr="/home/user/DOBERMAN-/.eval-scripts/pptx-build/icons/layers-30D158.png">    </p:cNvPr>
          <p:cNvPicPr>
            <a:picLocks noChangeAspect="1"/>
          </p:cNvPicPr>
          <p:nvPr/>
        </p:nvPicPr>
        <p:blipFill>
          <a:blip r:embed="rId1"/>
          <a:stretch>
            <a:fillRect/>
          </a:stretch>
        </p:blipFill>
        <p:spPr>
          <a:xfrm>
            <a:off x="2148840" y="2606040"/>
            <a:ext cx="457200" cy="457200"/>
          </a:xfrm>
          <a:prstGeom prst="rect">
            <a:avLst/>
          </a:prstGeom>
        </p:spPr>
      </p:pic>
      <p:sp>
        <p:nvSpPr>
          <p:cNvPr id="7" name="Text 4"/>
          <p:cNvSpPr/>
          <p:nvPr/>
        </p:nvSpPr>
        <p:spPr>
          <a:xfrm>
            <a:off x="640080" y="3429000"/>
            <a:ext cx="352044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Orchestration layer</a:t>
            </a:r>
            <a:endParaRPr lang="en-US" sz="1500" dirty="0"/>
          </a:p>
        </p:txBody>
      </p:sp>
      <p:sp>
        <p:nvSpPr>
          <p:cNvPr id="8" name="Text 5"/>
          <p:cNvSpPr/>
          <p:nvPr/>
        </p:nvSpPr>
        <p:spPr>
          <a:xfrm>
            <a:off x="640080" y="3886200"/>
            <a:ext cx="3520440" cy="1280160"/>
          </a:xfrm>
          <a:prstGeom prst="rect">
            <a:avLst/>
          </a:prstGeom>
          <a:noFill/>
          <a:ln/>
        </p:spPr>
        <p:txBody>
          <a:bodyPr wrap="square" rtlCol="0" anchor="ctr"/>
          <a:lstStyle/>
          <a:p>
            <a:pPr algn="ctr" indent="0" marL="0">
              <a:buNone/>
            </a:pPr>
            <a:r>
              <a:rPr lang="en-US" sz="1200" dirty="0">
                <a:solidFill>
                  <a:srgbClr val="9BA3AF"/>
                </a:solidFill>
                <a:latin typeface="Calibri" pitchFamily="34" charset="0"/>
                <a:ea typeface="Calibri" pitchFamily="34" charset="-122"/>
                <a:cs typeface="Calibri" pitchFamily="34" charset="-120"/>
              </a:rPr>
              <a:t>A secure, rate-limited, multi-provider integration across four heterogeneous AI/security APIs behind one architecture.</a:t>
            </a:r>
            <a:endParaRPr lang="en-US" sz="1200" dirty="0"/>
          </a:p>
        </p:txBody>
      </p:sp>
      <p:sp>
        <p:nvSpPr>
          <p:cNvPr id="9" name="Shape 6"/>
          <p:cNvSpPr/>
          <p:nvPr/>
        </p:nvSpPr>
        <p:spPr>
          <a:xfrm>
            <a:off x="5577840" y="2377440"/>
            <a:ext cx="914400" cy="914400"/>
          </a:xfrm>
          <a:prstGeom prst="oval">
            <a:avLst/>
          </a:prstGeom>
          <a:solidFill>
            <a:srgbClr val="1B1F29"/>
          </a:solidFill>
          <a:ln w="12700">
            <a:solidFill>
              <a:srgbClr val="30D158"/>
            </a:solidFill>
            <a:prstDash val="solid"/>
          </a:ln>
        </p:spPr>
      </p:sp>
      <p:pic>
        <p:nvPicPr>
          <p:cNvPr id="10" name="Image 1" descr="/home/user/DOBERMAN-/.eval-scripts/pptx-build/icons/brain-30D158.png">    </p:cNvPr>
          <p:cNvPicPr>
            <a:picLocks noChangeAspect="1"/>
          </p:cNvPicPr>
          <p:nvPr/>
        </p:nvPicPr>
        <p:blipFill>
          <a:blip r:embed="rId2"/>
          <a:stretch>
            <a:fillRect/>
          </a:stretch>
        </p:blipFill>
        <p:spPr>
          <a:xfrm>
            <a:off x="5806440" y="2606040"/>
            <a:ext cx="457200" cy="457200"/>
          </a:xfrm>
          <a:prstGeom prst="rect">
            <a:avLst/>
          </a:prstGeom>
        </p:spPr>
      </p:pic>
      <p:sp>
        <p:nvSpPr>
          <p:cNvPr id="11" name="Text 7"/>
          <p:cNvSpPr/>
          <p:nvPr/>
        </p:nvSpPr>
        <p:spPr>
          <a:xfrm>
            <a:off x="4297680" y="3429000"/>
            <a:ext cx="352044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DAYE persona pattern</a:t>
            </a:r>
            <a:endParaRPr lang="en-US" sz="1500" dirty="0"/>
          </a:p>
        </p:txBody>
      </p:sp>
      <p:sp>
        <p:nvSpPr>
          <p:cNvPr id="12" name="Text 8"/>
          <p:cNvSpPr/>
          <p:nvPr/>
        </p:nvSpPr>
        <p:spPr>
          <a:xfrm>
            <a:off x="4297680" y="3886200"/>
            <a:ext cx="3520440" cy="1280160"/>
          </a:xfrm>
          <a:prstGeom prst="rect">
            <a:avLst/>
          </a:prstGeom>
          <a:noFill/>
          <a:ln/>
        </p:spPr>
        <p:txBody>
          <a:bodyPr wrap="square" rtlCol="0" anchor="ctr"/>
          <a:lstStyle/>
          <a:p>
            <a:pPr algn="ctr" indent="0" marL="0">
              <a:buNone/>
            </a:pPr>
            <a:r>
              <a:rPr lang="en-US" sz="1200" dirty="0">
                <a:solidFill>
                  <a:srgbClr val="9BA3AF"/>
                </a:solidFill>
                <a:latin typeface="Calibri" pitchFamily="34" charset="0"/>
                <a:ea typeface="Calibri" pitchFamily="34" charset="-122"/>
                <a:cs typeface="Calibri" pitchFamily="34" charset="-120"/>
              </a:rPr>
              <a:t>A reusable, context-aware explanatory layer — purpose-built prompts per result type, not a generic chatbot.</a:t>
            </a:r>
            <a:endParaRPr lang="en-US" sz="1200" dirty="0"/>
          </a:p>
        </p:txBody>
      </p:sp>
      <p:sp>
        <p:nvSpPr>
          <p:cNvPr id="13" name="Shape 9"/>
          <p:cNvSpPr/>
          <p:nvPr/>
        </p:nvSpPr>
        <p:spPr>
          <a:xfrm>
            <a:off x="9235440" y="2377440"/>
            <a:ext cx="914400" cy="914400"/>
          </a:xfrm>
          <a:prstGeom prst="oval">
            <a:avLst/>
          </a:prstGeom>
          <a:solidFill>
            <a:srgbClr val="1B1F29"/>
          </a:solidFill>
          <a:ln w="12700">
            <a:solidFill>
              <a:srgbClr val="30D158"/>
            </a:solidFill>
            <a:prstDash val="solid"/>
          </a:ln>
        </p:spPr>
      </p:sp>
      <p:pic>
        <p:nvPicPr>
          <p:cNvPr id="14" name="Image 2" descr="/home/user/DOBERMAN-/.eval-scripts/pptx-build/icons/shield-30D158.png">    </p:cNvPr>
          <p:cNvPicPr>
            <a:picLocks noChangeAspect="1"/>
          </p:cNvPicPr>
          <p:nvPr/>
        </p:nvPicPr>
        <p:blipFill>
          <a:blip r:embed="rId3"/>
          <a:stretch>
            <a:fillRect/>
          </a:stretch>
        </p:blipFill>
        <p:spPr>
          <a:xfrm>
            <a:off x="9464040" y="2606040"/>
            <a:ext cx="457200" cy="457200"/>
          </a:xfrm>
          <a:prstGeom prst="rect">
            <a:avLst/>
          </a:prstGeom>
        </p:spPr>
      </p:pic>
      <p:sp>
        <p:nvSpPr>
          <p:cNvPr id="15" name="Text 10"/>
          <p:cNvSpPr/>
          <p:nvPr/>
        </p:nvSpPr>
        <p:spPr>
          <a:xfrm>
            <a:off x="7955280" y="3429000"/>
            <a:ext cx="352044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Anti-fabrication discipline</a:t>
            </a:r>
            <a:endParaRPr lang="en-US" sz="1500" dirty="0"/>
          </a:p>
        </p:txBody>
      </p:sp>
      <p:sp>
        <p:nvSpPr>
          <p:cNvPr id="16" name="Text 11"/>
          <p:cNvSpPr/>
          <p:nvPr/>
        </p:nvSpPr>
        <p:spPr>
          <a:xfrm>
            <a:off x="7955280" y="3886200"/>
            <a:ext cx="3520440" cy="1280160"/>
          </a:xfrm>
          <a:prstGeom prst="rect">
            <a:avLst/>
          </a:prstGeom>
          <a:noFill/>
          <a:ln/>
        </p:spPr>
        <p:txBody>
          <a:bodyPr wrap="square" rtlCol="0" anchor="ctr"/>
          <a:lstStyle/>
          <a:p>
            <a:pPr algn="ctr" indent="0" marL="0">
              <a:buNone/>
            </a:pPr>
            <a:r>
              <a:rPr lang="en-US" sz="1200" dirty="0">
                <a:solidFill>
                  <a:srgbClr val="9BA3AF"/>
                </a:solidFill>
                <a:latin typeface="Calibri" pitchFamily="34" charset="0"/>
                <a:ea typeface="Calibri" pitchFamily="34" charset="-122"/>
                <a:cs typeface="Calibri" pitchFamily="34" charset="-120"/>
              </a:rPr>
              <a:t>A demonstrated, code-verified pattern of declining to invent results when live data is unavailable.</a:t>
            </a:r>
            <a:endParaRPr lang="en-US" sz="1200" dirty="0"/>
          </a:p>
        </p:txBody>
      </p:sp>
      <p:sp>
        <p:nvSpPr>
          <p:cNvPr id="17" name="Text 12"/>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FF9F0A"/>
                </a:solidFill>
                <a:latin typeface="Courier New" pitchFamily="34" charset="0"/>
                <a:ea typeface="Courier New" pitchFamily="34" charset="-122"/>
                <a:cs typeface="Courier New" pitchFamily="34" charset="-120"/>
              </a:rPr>
              <a:t>LOOKING AHEAD</a:t>
            </a:r>
            <a:endParaRPr lang="en-US" sz="1100" dirty="0"/>
          </a:p>
        </p:txBody>
      </p:sp>
      <p:sp>
        <p:nvSpPr>
          <p:cNvPr id="3" name="Text 1"/>
          <p:cNvSpPr/>
          <p:nvPr/>
        </p:nvSpPr>
        <p:spPr>
          <a:xfrm>
            <a:off x="640080" y="777240"/>
            <a:ext cx="10972800" cy="914400"/>
          </a:xfrm>
          <a:prstGeom prst="rect">
            <a:avLst/>
          </a:prstGeom>
          <a:noFill/>
          <a:ln/>
        </p:spPr>
        <p:txBody>
          <a:bodyPr wrap="square" rtlCol="0" anchor="ctr"/>
          <a:lstStyle/>
          <a:p>
            <a:pPr indent="0" marL="0">
              <a:buNone/>
            </a:pPr>
            <a:r>
              <a:rPr lang="en-US" sz="2900" b="1" dirty="0">
                <a:solidFill>
                  <a:srgbClr val="FFFFFF"/>
                </a:solidFill>
                <a:latin typeface="Bookman Old Style" pitchFamily="34" charset="0"/>
                <a:ea typeface="Bookman Old Style" pitchFamily="34" charset="-122"/>
                <a:cs typeface="Bookman Old Style" pitchFamily="34" charset="-120"/>
              </a:rPr>
              <a:t>Limitations and the priority roadmap</a:t>
            </a:r>
            <a:endParaRPr lang="en-US" sz="2900" dirty="0"/>
          </a:p>
        </p:txBody>
      </p:sp>
      <p:sp>
        <p:nvSpPr>
          <p:cNvPr id="4" name="Text 2"/>
          <p:cNvSpPr/>
          <p:nvPr/>
        </p:nvSpPr>
        <p:spPr>
          <a:xfrm>
            <a:off x="640080" y="1691640"/>
            <a:ext cx="4572000" cy="320040"/>
          </a:xfrm>
          <a:prstGeom prst="rect">
            <a:avLst/>
          </a:prstGeom>
          <a:noFill/>
          <a:ln/>
        </p:spPr>
        <p:txBody>
          <a:bodyPr wrap="square" rtlCol="0" anchor="ctr"/>
          <a:lstStyle/>
          <a:p>
            <a:pPr indent="0" marL="0">
              <a:buNone/>
            </a:pPr>
            <a:r>
              <a:rPr lang="en-US" sz="1200" b="1" spc="200" kern="0" dirty="0">
                <a:solidFill>
                  <a:srgbClr val="FF9F0A"/>
                </a:solidFill>
                <a:latin typeface="Courier New" pitchFamily="34" charset="0"/>
                <a:ea typeface="Courier New" pitchFamily="34" charset="-122"/>
                <a:cs typeface="Courier New" pitchFamily="34" charset="-120"/>
              </a:rPr>
              <a:t>LIMITATIONS</a:t>
            </a:r>
            <a:endParaRPr lang="en-US" sz="1200" dirty="0"/>
          </a:p>
        </p:txBody>
      </p:sp>
      <p:sp>
        <p:nvSpPr>
          <p:cNvPr id="5" name="Text 3"/>
          <p:cNvSpPr/>
          <p:nvPr/>
        </p:nvSpPr>
        <p:spPr>
          <a:xfrm>
            <a:off x="640080" y="2103120"/>
            <a:ext cx="512064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  No dataset-scale accuracy evaluation performed</a:t>
            </a:r>
            <a:endParaRPr lang="en-US" sz="1200" dirty="0"/>
          </a:p>
        </p:txBody>
      </p:sp>
      <p:sp>
        <p:nvSpPr>
          <p:cNvPr id="6" name="Text 4"/>
          <p:cNvSpPr/>
          <p:nvPr/>
        </p:nvSpPr>
        <p:spPr>
          <a:xfrm>
            <a:off x="640080" y="2606040"/>
            <a:ext cx="512064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  No live penetration testing against production</a:t>
            </a:r>
            <a:endParaRPr lang="en-US" sz="1200" dirty="0"/>
          </a:p>
        </p:txBody>
      </p:sp>
      <p:sp>
        <p:nvSpPr>
          <p:cNvPr id="7" name="Text 5"/>
          <p:cNvSpPr/>
          <p:nvPr/>
        </p:nvSpPr>
        <p:spPr>
          <a:xfrm>
            <a:off x="640080" y="3108960"/>
            <a:ext cx="512064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  NOSE, Voice, Text, Scam Link not in main nav</a:t>
            </a:r>
            <a:endParaRPr lang="en-US" sz="1200" dirty="0"/>
          </a:p>
        </p:txBody>
      </p:sp>
      <p:sp>
        <p:nvSpPr>
          <p:cNvPr id="8" name="Text 6"/>
          <p:cNvSpPr/>
          <p:nvPr/>
        </p:nvSpPr>
        <p:spPr>
          <a:xfrm>
            <a:off x="640080" y="3611880"/>
            <a:ext cx="512064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  A few legacy tables need cleanup or removal</a:t>
            </a:r>
            <a:endParaRPr lang="en-US" sz="1200" dirty="0"/>
          </a:p>
        </p:txBody>
      </p:sp>
      <p:sp>
        <p:nvSpPr>
          <p:cNvPr id="9" name="Text 7"/>
          <p:cNvSpPr/>
          <p:nvPr/>
        </p:nvSpPr>
        <p:spPr>
          <a:xfrm>
            <a:off x="6263640" y="1691640"/>
            <a:ext cx="5029200" cy="320040"/>
          </a:xfrm>
          <a:prstGeom prst="rect">
            <a:avLst/>
          </a:prstGeom>
          <a:noFill/>
          <a:ln/>
        </p:spPr>
        <p:txBody>
          <a:bodyPr wrap="square" rtlCol="0" anchor="ctr"/>
          <a:lstStyle/>
          <a:p>
            <a:pPr indent="0" marL="0">
              <a:buNone/>
            </a:pPr>
            <a:r>
              <a:rPr lang="en-US" sz="1200" b="1" spc="200" kern="0" dirty="0">
                <a:solidFill>
                  <a:srgbClr val="30D158"/>
                </a:solidFill>
                <a:latin typeface="Courier New" pitchFamily="34" charset="0"/>
                <a:ea typeface="Courier New" pitchFamily="34" charset="-122"/>
                <a:cs typeface="Courier New" pitchFamily="34" charset="-120"/>
              </a:rPr>
              <a:t>PRIORITY FUTURE WORK</a:t>
            </a:r>
            <a:endParaRPr lang="en-US" sz="1200" dirty="0"/>
          </a:p>
        </p:txBody>
      </p:sp>
      <p:sp>
        <p:nvSpPr>
          <p:cNvPr id="10" name="Text 8"/>
          <p:cNvSpPr/>
          <p:nvPr/>
        </p:nvSpPr>
        <p:spPr>
          <a:xfrm>
            <a:off x="6263640" y="2103120"/>
            <a:ext cx="521208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  Link all 9 capabilities into sidebar + Dashboard</a:t>
            </a:r>
            <a:endParaRPr lang="en-US" sz="1200" dirty="0"/>
          </a:p>
        </p:txBody>
      </p:sp>
      <p:sp>
        <p:nvSpPr>
          <p:cNvPr id="11" name="Text 9"/>
          <p:cNvSpPr/>
          <p:nvPr/>
        </p:nvSpPr>
        <p:spPr>
          <a:xfrm>
            <a:off x="6263640" y="2606040"/>
            <a:ext cx="521208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  Live NVD/CIRCL CVE cross-referencing in NOSE</a:t>
            </a:r>
            <a:endParaRPr lang="en-US" sz="1200" dirty="0"/>
          </a:p>
        </p:txBody>
      </p:sp>
      <p:sp>
        <p:nvSpPr>
          <p:cNvPr id="12" name="Text 10"/>
          <p:cNvSpPr/>
          <p:nvPr/>
        </p:nvSpPr>
        <p:spPr>
          <a:xfrm>
            <a:off x="6263640" y="3108960"/>
            <a:ext cx="521208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  Dataset-scale accuracy run (EYES/Voice/Text/NEWS)</a:t>
            </a:r>
            <a:endParaRPr lang="en-US" sz="1200" dirty="0"/>
          </a:p>
        </p:txBody>
      </p:sp>
      <p:sp>
        <p:nvSpPr>
          <p:cNvPr id="13" name="Text 11"/>
          <p:cNvSpPr/>
          <p:nvPr/>
        </p:nvSpPr>
        <p:spPr>
          <a:xfrm>
            <a:off x="6263640" y="3611880"/>
            <a:ext cx="5212080" cy="457200"/>
          </a:xfrm>
          <a:prstGeom prst="rect">
            <a:avLst/>
          </a:prstGeom>
          <a:noFill/>
          <a:ln/>
        </p:spPr>
        <p:txBody>
          <a:bodyPr wrap="square" rtlCol="0" anchor="ctr"/>
          <a:lstStyle/>
          <a:p>
            <a:pPr indent="0" marL="0">
              <a:buNone/>
            </a:pPr>
            <a:r>
              <a:rPr lang="en-US" sz="1200" dirty="0">
                <a:solidFill>
                  <a:srgbClr val="9BA3AF"/>
                </a:solidFill>
                <a:latin typeface="Calibri" pitchFamily="34" charset="0"/>
                <a:ea typeface="Calibri" pitchFamily="34" charset="-122"/>
                <a:cs typeface="Calibri" pitchFamily="34" charset="-120"/>
              </a:rPr>
              <a:t>•  Structured, consented user-acceptance testing</a:t>
            </a:r>
            <a:endParaRPr lang="en-US" sz="1200" dirty="0"/>
          </a:p>
        </p:txBody>
      </p:sp>
      <p:sp>
        <p:nvSpPr>
          <p:cNvPr id="14" name="Shape 12"/>
          <p:cNvSpPr/>
          <p:nvPr/>
        </p:nvSpPr>
        <p:spPr>
          <a:xfrm>
            <a:off x="640080" y="4297680"/>
            <a:ext cx="10881360" cy="0"/>
          </a:xfrm>
          <a:prstGeom prst="line">
            <a:avLst/>
          </a:prstGeom>
          <a:noFill/>
          <a:ln w="12700">
            <a:solidFill>
              <a:srgbClr val="2A2F3A"/>
            </a:solidFill>
            <a:prstDash val="solid"/>
          </a:ln>
        </p:spPr>
      </p:sp>
      <p:sp>
        <p:nvSpPr>
          <p:cNvPr id="15" name="Text 13"/>
          <p:cNvSpPr/>
          <p:nvPr/>
        </p:nvSpPr>
        <p:spPr>
          <a:xfrm>
            <a:off x="640080" y="4526280"/>
            <a:ext cx="10881360" cy="548640"/>
          </a:xfrm>
          <a:prstGeom prst="rect">
            <a:avLst/>
          </a:prstGeom>
          <a:noFill/>
          <a:ln/>
        </p:spPr>
        <p:txBody>
          <a:bodyPr wrap="square" rtlCol="0" anchor="ctr"/>
          <a:lstStyle/>
          <a:p>
            <a:pPr indent="0" marL="0">
              <a:buNone/>
            </a:pPr>
            <a:r>
              <a:rPr lang="en-US" sz="1300" i="1" dirty="0">
                <a:solidFill>
                  <a:srgbClr val="30D158"/>
                </a:solidFill>
                <a:latin typeface="Calibri" pitchFamily="34" charset="0"/>
                <a:ea typeface="Calibri" pitchFamily="34" charset="-122"/>
                <a:cs typeface="Calibri" pitchFamily="34" charset="-120"/>
              </a:rPr>
              <a:t>The evaluation programme above is prioritised above any new feature — validating what exists matters more than extending it.</a:t>
            </a:r>
            <a:endParaRPr lang="en-US" sz="1300" dirty="0"/>
          </a:p>
        </p:txBody>
      </p:sp>
      <p:sp>
        <p:nvSpPr>
          <p:cNvPr id="16" name="Text 14"/>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C10"/>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A0C10"/>
          </a:solidFill>
          <a:ln/>
        </p:spPr>
      </p:sp>
      <p:sp>
        <p:nvSpPr>
          <p:cNvPr id="3" name="Text 1"/>
          <p:cNvSpPr/>
          <p:nvPr/>
        </p:nvSpPr>
        <p:spPr>
          <a:xfrm>
            <a:off x="640080" y="457200"/>
            <a:ext cx="7315200" cy="320040"/>
          </a:xfrm>
          <a:prstGeom prst="rect">
            <a:avLst/>
          </a:prstGeom>
          <a:noFill/>
          <a:ln/>
        </p:spPr>
        <p:txBody>
          <a:bodyPr wrap="square" rtlCol="0" anchor="ctr"/>
          <a:lstStyle/>
          <a:p>
            <a:pPr indent="0" marL="0">
              <a:buNone/>
            </a:pPr>
            <a:r>
              <a:rPr lang="en-US" sz="1100" spc="300" kern="0" dirty="0">
                <a:solidFill>
                  <a:srgbClr val="30D158"/>
                </a:solidFill>
                <a:latin typeface="Courier New" pitchFamily="34" charset="0"/>
                <a:ea typeface="Courier New" pitchFamily="34" charset="-122"/>
                <a:cs typeface="Courier New" pitchFamily="34" charset="-120"/>
              </a:rPr>
              <a:t>CONCLUSION</a:t>
            </a:r>
            <a:endParaRPr lang="en-US" sz="1100" dirty="0"/>
          </a:p>
        </p:txBody>
      </p:sp>
      <p:sp>
        <p:nvSpPr>
          <p:cNvPr id="4" name="Text 2"/>
          <p:cNvSpPr/>
          <p:nvPr/>
        </p:nvSpPr>
        <p:spPr>
          <a:xfrm>
            <a:off x="640080" y="777240"/>
            <a:ext cx="10515600" cy="1554480"/>
          </a:xfrm>
          <a:prstGeom prst="rect">
            <a:avLst/>
          </a:prstGeom>
          <a:noFill/>
          <a:ln/>
        </p:spPr>
        <p:txBody>
          <a:bodyPr wrap="square" rtlCol="0" anchor="ctr"/>
          <a:lstStyle/>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A platform earns trust by being honest</a:t>
            </a:r>
            <a:endParaRPr lang="en-US" sz="3000" dirty="0"/>
          </a:p>
          <a:p>
            <a:pPr indent="0" marL="0">
              <a:buNone/>
            </a:pPr>
            <a:r>
              <a:rPr lang="en-US" sz="3000" b="1" dirty="0">
                <a:solidFill>
                  <a:srgbClr val="FFFFFF"/>
                </a:solidFill>
                <a:latin typeface="Bookman Old Style" pitchFamily="34" charset="0"/>
                <a:ea typeface="Bookman Old Style" pitchFamily="34" charset="-122"/>
                <a:cs typeface="Bookman Old Style" pitchFamily="34" charset="-120"/>
              </a:rPr>
              <a:t>about the edge of its own knowledge.</a:t>
            </a:r>
            <a:endParaRPr lang="en-US" sz="3000" dirty="0"/>
          </a:p>
        </p:txBody>
      </p:sp>
      <p:sp>
        <p:nvSpPr>
          <p:cNvPr id="5" name="Text 3"/>
          <p:cNvSpPr/>
          <p:nvPr/>
        </p:nvSpPr>
        <p:spPr>
          <a:xfrm>
            <a:off x="640080" y="2834640"/>
            <a:ext cx="9601200" cy="1005840"/>
          </a:xfrm>
          <a:prstGeom prst="rect">
            <a:avLst/>
          </a:prstGeom>
          <a:noFill/>
          <a:ln/>
        </p:spPr>
        <p:txBody>
          <a:bodyPr wrap="square" rtlCol="0" anchor="ctr"/>
          <a:lstStyle/>
          <a:p>
            <a:pPr indent="0" marL="0">
              <a:buNone/>
            </a:pPr>
            <a:r>
              <a:rPr lang="en-US" sz="1500" dirty="0">
                <a:solidFill>
                  <a:srgbClr val="9BA3AF"/>
                </a:solidFill>
                <a:latin typeface="Calibri" pitchFamily="34" charset="0"/>
                <a:ea typeface="Calibri" pitchFamily="34" charset="-122"/>
                <a:cs typeface="Calibri" pitchFamily="34" charset="-120"/>
              </a:rPr>
              <a:t>DOBERMAN’s architecture and every module’s interface were verified directly. Its detection accuracy was not measured — and this report says so plainly. Extending that evaluation is the most important next step for this project.</a:t>
            </a:r>
            <a:endParaRPr lang="en-US" sz="1500" dirty="0"/>
          </a:p>
        </p:txBody>
      </p:sp>
      <p:sp>
        <p:nvSpPr>
          <p:cNvPr id="6" name="Text 4"/>
          <p:cNvSpPr/>
          <p:nvPr/>
        </p:nvSpPr>
        <p:spPr>
          <a:xfrm>
            <a:off x="640080" y="4206240"/>
            <a:ext cx="2468880" cy="822960"/>
          </a:xfrm>
          <a:prstGeom prst="rect">
            <a:avLst/>
          </a:prstGeom>
          <a:noFill/>
          <a:ln/>
        </p:spPr>
        <p:txBody>
          <a:bodyPr wrap="square" rtlCol="0" anchor="ctr"/>
          <a:lstStyle/>
          <a:p>
            <a:pPr indent="0" marL="0">
              <a:buNone/>
            </a:pPr>
            <a:r>
              <a:rPr lang="en-US" sz="4000" b="1" dirty="0">
                <a:solidFill>
                  <a:srgbClr val="30D158"/>
                </a:solidFill>
                <a:latin typeface="Bookman Old Style" pitchFamily="34" charset="0"/>
                <a:ea typeface="Bookman Old Style" pitchFamily="34" charset="-122"/>
                <a:cs typeface="Bookman Old Style" pitchFamily="34" charset="-120"/>
              </a:rPr>
              <a:t>9</a:t>
            </a:r>
            <a:endParaRPr lang="en-US" sz="4000" dirty="0"/>
          </a:p>
        </p:txBody>
      </p:sp>
      <p:sp>
        <p:nvSpPr>
          <p:cNvPr id="7" name="Text 5"/>
          <p:cNvSpPr/>
          <p:nvPr/>
        </p:nvSpPr>
        <p:spPr>
          <a:xfrm>
            <a:off x="640080" y="4983480"/>
            <a:ext cx="2468880" cy="365760"/>
          </a:xfrm>
          <a:prstGeom prst="rect">
            <a:avLst/>
          </a:prstGeom>
          <a:noFill/>
          <a:ln/>
        </p:spPr>
        <p:txBody>
          <a:bodyPr wrap="square" rtlCol="0" anchor="ctr"/>
          <a:lstStyle/>
          <a:p>
            <a:pPr indent="0" marL="0">
              <a:buNone/>
            </a:pPr>
            <a:r>
              <a:rPr lang="en-US" sz="1000" spc="100" kern="0" dirty="0">
                <a:solidFill>
                  <a:srgbClr val="6B7280"/>
                </a:solidFill>
                <a:latin typeface="Courier New" pitchFamily="34" charset="0"/>
                <a:ea typeface="Courier New" pitchFamily="34" charset="-122"/>
                <a:cs typeface="Courier New" pitchFamily="34" charset="-120"/>
              </a:rPr>
              <a:t>CAPABILITY AREAS</a:t>
            </a:r>
            <a:endParaRPr lang="en-US" sz="1000" dirty="0"/>
          </a:p>
        </p:txBody>
      </p:sp>
      <p:sp>
        <p:nvSpPr>
          <p:cNvPr id="8" name="Text 6"/>
          <p:cNvSpPr/>
          <p:nvPr/>
        </p:nvSpPr>
        <p:spPr>
          <a:xfrm>
            <a:off x="3337560" y="4206240"/>
            <a:ext cx="2468880" cy="822960"/>
          </a:xfrm>
          <a:prstGeom prst="rect">
            <a:avLst/>
          </a:prstGeom>
          <a:noFill/>
          <a:ln/>
        </p:spPr>
        <p:txBody>
          <a:bodyPr wrap="square" rtlCol="0" anchor="ctr"/>
          <a:lstStyle/>
          <a:p>
            <a:pPr indent="0" marL="0">
              <a:buNone/>
            </a:pPr>
            <a:r>
              <a:rPr lang="en-US" sz="4000" b="1" dirty="0">
                <a:solidFill>
                  <a:srgbClr val="30D158"/>
                </a:solidFill>
                <a:latin typeface="Bookman Old Style" pitchFamily="34" charset="0"/>
                <a:ea typeface="Bookman Old Style" pitchFamily="34" charset="-122"/>
                <a:cs typeface="Bookman Old Style" pitchFamily="34" charset="-120"/>
              </a:rPr>
              <a:t>18</a:t>
            </a:r>
            <a:endParaRPr lang="en-US" sz="4000" dirty="0"/>
          </a:p>
        </p:txBody>
      </p:sp>
      <p:sp>
        <p:nvSpPr>
          <p:cNvPr id="9" name="Text 7"/>
          <p:cNvSpPr/>
          <p:nvPr/>
        </p:nvSpPr>
        <p:spPr>
          <a:xfrm>
            <a:off x="3337560" y="4983480"/>
            <a:ext cx="2468880" cy="365760"/>
          </a:xfrm>
          <a:prstGeom prst="rect">
            <a:avLst/>
          </a:prstGeom>
          <a:noFill/>
          <a:ln/>
        </p:spPr>
        <p:txBody>
          <a:bodyPr wrap="square" rtlCol="0" anchor="ctr"/>
          <a:lstStyle/>
          <a:p>
            <a:pPr indent="0" marL="0">
              <a:buNone/>
            </a:pPr>
            <a:r>
              <a:rPr lang="en-US" sz="1000" spc="100" kern="0" dirty="0">
                <a:solidFill>
                  <a:srgbClr val="6B7280"/>
                </a:solidFill>
                <a:latin typeface="Courier New" pitchFamily="34" charset="0"/>
                <a:ea typeface="Courier New" pitchFamily="34" charset="-122"/>
                <a:cs typeface="Courier New" pitchFamily="34" charset="-120"/>
              </a:rPr>
              <a:t>EDGE FUNCTIONS</a:t>
            </a:r>
            <a:endParaRPr lang="en-US" sz="1000" dirty="0"/>
          </a:p>
        </p:txBody>
      </p:sp>
      <p:sp>
        <p:nvSpPr>
          <p:cNvPr id="10" name="Text 8"/>
          <p:cNvSpPr/>
          <p:nvPr/>
        </p:nvSpPr>
        <p:spPr>
          <a:xfrm>
            <a:off x="6035040" y="4206240"/>
            <a:ext cx="2468880" cy="822960"/>
          </a:xfrm>
          <a:prstGeom prst="rect">
            <a:avLst/>
          </a:prstGeom>
          <a:noFill/>
          <a:ln/>
        </p:spPr>
        <p:txBody>
          <a:bodyPr wrap="square" rtlCol="0" anchor="ctr"/>
          <a:lstStyle/>
          <a:p>
            <a:pPr indent="0" marL="0">
              <a:buNone/>
            </a:pPr>
            <a:r>
              <a:rPr lang="en-US" sz="4000" b="1" dirty="0">
                <a:solidFill>
                  <a:srgbClr val="30D158"/>
                </a:solidFill>
                <a:latin typeface="Bookman Old Style" pitchFamily="34" charset="0"/>
                <a:ea typeface="Bookman Old Style" pitchFamily="34" charset="-122"/>
                <a:cs typeface="Bookman Old Style" pitchFamily="34" charset="-120"/>
              </a:rPr>
              <a:t>4</a:t>
            </a:r>
            <a:endParaRPr lang="en-US" sz="4000" dirty="0"/>
          </a:p>
        </p:txBody>
      </p:sp>
      <p:sp>
        <p:nvSpPr>
          <p:cNvPr id="11" name="Text 9"/>
          <p:cNvSpPr/>
          <p:nvPr/>
        </p:nvSpPr>
        <p:spPr>
          <a:xfrm>
            <a:off x="6035040" y="4983480"/>
            <a:ext cx="2468880" cy="365760"/>
          </a:xfrm>
          <a:prstGeom prst="rect">
            <a:avLst/>
          </a:prstGeom>
          <a:noFill/>
          <a:ln/>
        </p:spPr>
        <p:txBody>
          <a:bodyPr wrap="square" rtlCol="0" anchor="ctr"/>
          <a:lstStyle/>
          <a:p>
            <a:pPr indent="0" marL="0">
              <a:buNone/>
            </a:pPr>
            <a:r>
              <a:rPr lang="en-US" sz="1000" spc="100" kern="0" dirty="0">
                <a:solidFill>
                  <a:srgbClr val="6B7280"/>
                </a:solidFill>
                <a:latin typeface="Courier New" pitchFamily="34" charset="0"/>
                <a:ea typeface="Courier New" pitchFamily="34" charset="-122"/>
                <a:cs typeface="Courier New" pitchFamily="34" charset="-120"/>
              </a:rPr>
              <a:t>AI/SECURITY PROVIDERS</a:t>
            </a:r>
            <a:endParaRPr lang="en-US" sz="1000" dirty="0"/>
          </a:p>
        </p:txBody>
      </p:sp>
      <p:sp>
        <p:nvSpPr>
          <p:cNvPr id="12" name="Text 10"/>
          <p:cNvSpPr/>
          <p:nvPr/>
        </p:nvSpPr>
        <p:spPr>
          <a:xfrm>
            <a:off x="8732520" y="4206240"/>
            <a:ext cx="2468880" cy="822960"/>
          </a:xfrm>
          <a:prstGeom prst="rect">
            <a:avLst/>
          </a:prstGeom>
          <a:noFill/>
          <a:ln/>
        </p:spPr>
        <p:txBody>
          <a:bodyPr wrap="square" rtlCol="0" anchor="ctr"/>
          <a:lstStyle/>
          <a:p>
            <a:pPr indent="0" marL="0">
              <a:buNone/>
            </a:pPr>
            <a:r>
              <a:rPr lang="en-US" sz="4000" b="1" dirty="0">
                <a:solidFill>
                  <a:srgbClr val="30D158"/>
                </a:solidFill>
                <a:latin typeface="Bookman Old Style" pitchFamily="34" charset="0"/>
                <a:ea typeface="Bookman Old Style" pitchFamily="34" charset="-122"/>
                <a:cs typeface="Bookman Old Style" pitchFamily="34" charset="-120"/>
              </a:rPr>
              <a:t>100%</a:t>
            </a:r>
            <a:endParaRPr lang="en-US" sz="4000" dirty="0"/>
          </a:p>
        </p:txBody>
      </p:sp>
      <p:sp>
        <p:nvSpPr>
          <p:cNvPr id="13" name="Text 11"/>
          <p:cNvSpPr/>
          <p:nvPr/>
        </p:nvSpPr>
        <p:spPr>
          <a:xfrm>
            <a:off x="8732520" y="4983480"/>
            <a:ext cx="2468880" cy="365760"/>
          </a:xfrm>
          <a:prstGeom prst="rect">
            <a:avLst/>
          </a:prstGeom>
          <a:noFill/>
          <a:ln/>
        </p:spPr>
        <p:txBody>
          <a:bodyPr wrap="square" rtlCol="0" anchor="ctr"/>
          <a:lstStyle/>
          <a:p>
            <a:pPr indent="0" marL="0">
              <a:buNone/>
            </a:pPr>
            <a:r>
              <a:rPr lang="en-US" sz="1000" spc="100" kern="0" dirty="0">
                <a:solidFill>
                  <a:srgbClr val="6B7280"/>
                </a:solidFill>
                <a:latin typeface="Courier New" pitchFamily="34" charset="0"/>
                <a:ea typeface="Courier New" pitchFamily="34" charset="-122"/>
                <a:cs typeface="Courier New" pitchFamily="34" charset="-120"/>
              </a:rPr>
              <a:t>TABLES WITH RLS</a:t>
            </a:r>
            <a:endParaRPr lang="en-US" sz="1000" dirty="0"/>
          </a:p>
        </p:txBody>
      </p:sp>
      <p:sp>
        <p:nvSpPr>
          <p:cNvPr id="14" name="Text 12"/>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C10"/>
        </a:solidFill>
      </p:bgPr>
    </p:bg>
    <p:spTree>
      <p:nvGrpSpPr>
        <p:cNvPr id="1" name=""/>
        <p:cNvGrpSpPr/>
        <p:nvPr/>
      </p:nvGrpSpPr>
      <p:grpSpPr>
        <a:xfrm>
          <a:off x="0" y="0"/>
          <a:ext cx="0" cy="0"/>
          <a:chOff x="0" y="0"/>
          <a:chExt cx="0" cy="0"/>
        </a:xfrm>
      </p:grpSpPr>
      <p:sp>
        <p:nvSpPr>
          <p:cNvPr id="2" name="Text 0"/>
          <p:cNvSpPr/>
          <p:nvPr/>
        </p:nvSpPr>
        <p:spPr>
          <a:xfrm>
            <a:off x="640080" y="2377440"/>
            <a:ext cx="10515600" cy="1188720"/>
          </a:xfrm>
          <a:prstGeom prst="rect">
            <a:avLst/>
          </a:prstGeom>
          <a:noFill/>
          <a:ln/>
        </p:spPr>
        <p:txBody>
          <a:bodyPr wrap="square" rtlCol="0" anchor="ctr"/>
          <a:lstStyle/>
          <a:p>
            <a:pPr algn="ctr" indent="0" marL="0">
              <a:buNone/>
            </a:pPr>
            <a:r>
              <a:rPr lang="en-US" sz="5600" b="1" spc="300" kern="0" dirty="0">
                <a:solidFill>
                  <a:srgbClr val="FFFFFF"/>
                </a:solidFill>
                <a:latin typeface="Bookman Old Style" pitchFamily="34" charset="0"/>
                <a:ea typeface="Bookman Old Style" pitchFamily="34" charset="-122"/>
                <a:cs typeface="Bookman Old Style" pitchFamily="34" charset="-120"/>
              </a:rPr>
              <a:t>DOBERMAN</a:t>
            </a:r>
            <a:endParaRPr lang="en-US" sz="5600" dirty="0"/>
          </a:p>
        </p:txBody>
      </p:sp>
      <p:sp>
        <p:nvSpPr>
          <p:cNvPr id="3" name="Text 1"/>
          <p:cNvSpPr/>
          <p:nvPr/>
        </p:nvSpPr>
        <p:spPr>
          <a:xfrm>
            <a:off x="640080" y="3566160"/>
            <a:ext cx="10515600" cy="548640"/>
          </a:xfrm>
          <a:prstGeom prst="rect">
            <a:avLst/>
          </a:prstGeom>
          <a:noFill/>
          <a:ln/>
        </p:spPr>
        <p:txBody>
          <a:bodyPr wrap="square" rtlCol="0" anchor="ctr"/>
          <a:lstStyle/>
          <a:p>
            <a:pPr algn="ctr" indent="0" marL="0">
              <a:buNone/>
            </a:pPr>
            <a:r>
              <a:rPr lang="en-US" sz="2000" dirty="0">
                <a:solidFill>
                  <a:srgbClr val="9BA3AF"/>
                </a:solidFill>
                <a:latin typeface="Calibri" pitchFamily="34" charset="0"/>
                <a:ea typeface="Calibri" pitchFamily="34" charset="-122"/>
                <a:cs typeface="Calibri" pitchFamily="34" charset="-120"/>
              </a:rPr>
              <a:t>Thank you. Questions.</a:t>
            </a:r>
            <a:endParaRPr lang="en-US" sz="2000" dirty="0"/>
          </a:p>
        </p:txBody>
      </p:sp>
      <p:sp>
        <p:nvSpPr>
          <p:cNvPr id="4" name="Text 2"/>
          <p:cNvSpPr/>
          <p:nvPr/>
        </p:nvSpPr>
        <p:spPr>
          <a:xfrm>
            <a:off x="640080" y="4251960"/>
            <a:ext cx="10515600" cy="365760"/>
          </a:xfrm>
          <a:prstGeom prst="rect">
            <a:avLst/>
          </a:prstGeom>
          <a:noFill/>
          <a:ln/>
        </p:spPr>
        <p:txBody>
          <a:bodyPr wrap="square" rtlCol="0" anchor="ctr"/>
          <a:lstStyle/>
          <a:p>
            <a:pPr algn="ctr" indent="0" marL="0">
              <a:buNone/>
            </a:pPr>
            <a:r>
              <a:rPr lang="en-US" sz="1100" spc="100" kern="0" dirty="0">
                <a:solidFill>
                  <a:srgbClr val="6B7280"/>
                </a:solidFill>
                <a:latin typeface="Courier New" pitchFamily="34" charset="0"/>
                <a:ea typeface="Courier New" pitchFamily="34" charset="-122"/>
                <a:cs typeface="Courier New" pitchFamily="34" charset="-120"/>
              </a:rPr>
              <a:t>Olusanu Joshua Bankole  ·  2022/493  ·  B.Sc. Cyber Security  ·  PCU, Ibadan</a:t>
            </a:r>
            <a:endParaRPr lang="en-US" sz="1100" dirty="0"/>
          </a:p>
        </p:txBody>
      </p:sp>
      <p:sp>
        <p:nvSpPr>
          <p:cNvPr id="5" name="Text 3"/>
          <p:cNvSpPr/>
          <p:nvPr/>
        </p:nvSpPr>
        <p:spPr>
          <a:xfrm>
            <a:off x="11521440" y="6446520"/>
            <a:ext cx="548640" cy="320040"/>
          </a:xfrm>
          <a:prstGeom prst="rect">
            <a:avLst/>
          </a:prstGeom>
          <a:noFill/>
          <a:ln/>
        </p:spPr>
        <p:txBody>
          <a:bodyPr wrap="square" rtlCol="0" anchor="ctr"/>
          <a:lstStyle/>
          <a:p>
            <a:pPr algn="r" indent="0" marL="0">
              <a:buNone/>
            </a:pPr>
            <a:r>
              <a:rPr lang="en-US" sz="900" dirty="0">
                <a:solidFill>
                  <a:srgbClr val="6B7280"/>
                </a:solidFill>
                <a:latin typeface="Courier New" pitchFamily="34" charset="0"/>
                <a:ea typeface="Courier New" pitchFamily="34" charset="-122"/>
                <a:cs typeface="Courier New"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DOBERMAN — Final Year Project Defence</dc:title>
  <dc:subject>PptxGenJS Presentation</dc:subject>
  <dc:creator>Olusanu Joshua Bankole</dc:creator>
  <cp:lastModifiedBy>Olusanu Joshua Bankole</cp:lastModifiedBy>
  <cp:revision>1</cp:revision>
  <dcterms:created xsi:type="dcterms:W3CDTF">2026-08-12T12:43:13Z</dcterms:created>
  <dcterms:modified xsi:type="dcterms:W3CDTF">2026-08-12T12:43:13Z</dcterms:modified>
</cp:coreProperties>
</file>