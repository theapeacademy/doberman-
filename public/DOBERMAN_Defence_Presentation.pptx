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2.png"/><Relationship Id="rId4" Type="http://schemas.openxmlformats.org/officeDocument/2006/relationships/image" Target="../media/image-9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0"/>
          </a:solidFill>
          <a:ln/>
        </p:spPr>
      </p:sp>
      <p:pic>
        <p:nvPicPr>
          <p:cNvPr id="3" name="Image 0" descr="/home/user/DOBERMAN-/public/pcu-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566928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B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PRECIOUS CORNERSTONE UNIVERSITY, IBADAN  ·  DEPT. OF CYBER SECURITY  ·  2025/2026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40080" y="228600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spc="400" kern="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DOBERMAN</a:t>
            </a:r>
            <a:endParaRPr lang="en-US" sz="8000" dirty="0"/>
          </a:p>
        </p:txBody>
      </p:sp>
      <p:sp>
        <p:nvSpPr>
          <p:cNvPr id="6" name="Text 3"/>
          <p:cNvSpPr/>
          <p:nvPr/>
        </p:nvSpPr>
        <p:spPr>
          <a:xfrm>
            <a:off x="658368" y="370332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Implementation of a Multi-Module AI-Powered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Intelligence Platform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58368" y="4892040"/>
            <a:ext cx="2926080" cy="0"/>
          </a:xfrm>
          <a:prstGeom prst="line">
            <a:avLst/>
          </a:prstGeom>
          <a:noFill/>
          <a:ln w="25400">
            <a:solidFill>
              <a:srgbClr val="30D1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51206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58368" y="5376672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Olusanu Joshua Bankole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401568" y="51206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MATRIC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3401568" y="5376672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2022/493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144768" y="51206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SUPERVISOR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144768" y="5376672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Osutokun Kemi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887968" y="51206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PROGRAMME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887968" y="5376672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B.Sc. Cyber Security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3B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Five threats, one shared blind spot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threat below exploits the same gap: how content and infrastructure appear versus how they actually are.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066544" cy="3200400"/>
          </a:xfrm>
          <a:prstGeom prst="roundRect">
            <a:avLst>
              <a:gd name="adj" fmla="val 5310"/>
            </a:avLst>
          </a:prstGeom>
          <a:solidFill>
            <a:srgbClr val="1B1F29"/>
          </a:solidFill>
          <a:ln/>
        </p:spPr>
      </p:sp>
      <p:pic>
        <p:nvPicPr>
          <p:cNvPr id="6" name="Image 0" descr="/home/user/DOBERMAN-/.eval-scripts/pptx-build/icons/eye-FF3B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5603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200400"/>
            <a:ext cx="17007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3B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+400%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22960" y="4023360"/>
            <a:ext cx="170078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 rise in deepfake attacks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843784" y="2286000"/>
            <a:ext cx="2066544" cy="3200400"/>
          </a:xfrm>
          <a:prstGeom prst="roundRect">
            <a:avLst>
              <a:gd name="adj" fmla="val 5310"/>
            </a:avLst>
          </a:prstGeom>
          <a:solidFill>
            <a:srgbClr val="1B1F29"/>
          </a:solidFill>
          <a:ln/>
        </p:spPr>
      </p:sp>
      <p:pic>
        <p:nvPicPr>
          <p:cNvPr id="10" name="Image 1" descr="/home/user/DOBERMAN-/.eval-scripts/pptx-build/icons/wifi-FF9F0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384" y="25603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026664" y="3200400"/>
            <a:ext cx="17007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9F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70%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3026664" y="4023360"/>
            <a:ext cx="170078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IoT devices ship with an unpatched critical flaw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047488" y="2286000"/>
            <a:ext cx="2066544" cy="3200400"/>
          </a:xfrm>
          <a:prstGeom prst="roundRect">
            <a:avLst>
              <a:gd name="adj" fmla="val 5310"/>
            </a:avLst>
          </a:prstGeom>
          <a:solidFill>
            <a:srgbClr val="1B1F29"/>
          </a:solidFill>
          <a:ln/>
        </p:spPr>
      </p:sp>
      <p:pic>
        <p:nvPicPr>
          <p:cNvPr id="14" name="Image 2" descr="/home/user/DOBERMAN-/.eval-scripts/pptx-build/icons/file-BF5AF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256032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230368" y="3200400"/>
            <a:ext cx="17007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F5AF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2x</a:t>
            </a:r>
            <a:endParaRPr lang="en-US" sz="3000" dirty="0"/>
          </a:p>
        </p:txBody>
      </p:sp>
      <p:sp>
        <p:nvSpPr>
          <p:cNvPr id="16" name="Text 11"/>
          <p:cNvSpPr/>
          <p:nvPr/>
        </p:nvSpPr>
        <p:spPr>
          <a:xfrm>
            <a:off x="5230368" y="4023360"/>
            <a:ext cx="170078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in AI-generated web text, 2022–24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7251192" y="2286000"/>
            <a:ext cx="2066544" cy="3200400"/>
          </a:xfrm>
          <a:prstGeom prst="roundRect">
            <a:avLst>
              <a:gd name="adj" fmla="val 5310"/>
            </a:avLst>
          </a:prstGeom>
          <a:solidFill>
            <a:srgbClr val="1B1F29"/>
          </a:solidFill>
          <a:ln/>
        </p:spPr>
      </p:sp>
      <p:pic>
        <p:nvPicPr>
          <p:cNvPr id="18" name="Image 3" descr="/home/user/DOBERMAN-/.eval-scripts/pptx-build/icons/key-0A84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9792" y="2560320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434072" y="3200400"/>
            <a:ext cx="17007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A84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Billions</a:t>
            </a:r>
            <a:endParaRPr lang="en-US" sz="3000" dirty="0"/>
          </a:p>
        </p:txBody>
      </p:sp>
      <p:sp>
        <p:nvSpPr>
          <p:cNvPr id="20" name="Text 14"/>
          <p:cNvSpPr/>
          <p:nvPr/>
        </p:nvSpPr>
        <p:spPr>
          <a:xfrm>
            <a:off x="7434072" y="4023360"/>
            <a:ext cx="170078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breached credentials in active circulation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9454896" y="2286000"/>
            <a:ext cx="2066544" cy="3200400"/>
          </a:xfrm>
          <a:prstGeom prst="roundRect">
            <a:avLst>
              <a:gd name="adj" fmla="val 5310"/>
            </a:avLst>
          </a:prstGeom>
          <a:solidFill>
            <a:srgbClr val="1B1F29"/>
          </a:solidFill>
          <a:ln/>
        </p:spPr>
      </p:sp>
      <p:pic>
        <p:nvPicPr>
          <p:cNvPr id="22" name="Image 4" descr="/home/user/DOBERMAN-/.eval-scripts/pptx-build/icons/link-30D15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3496" y="2560320"/>
            <a:ext cx="457200" cy="4572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637776" y="3200400"/>
            <a:ext cx="17007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0D15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Seconds</a:t>
            </a:r>
            <a:endParaRPr lang="en-US" sz="3000" dirty="0"/>
          </a:p>
        </p:txBody>
      </p:sp>
      <p:sp>
        <p:nvSpPr>
          <p:cNvPr id="24" name="Text 17"/>
          <p:cNvSpPr/>
          <p:nvPr/>
        </p:nvSpPr>
        <p:spPr>
          <a:xfrm>
            <a:off x="9637776" y="4023360"/>
            <a:ext cx="170078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all a phishing kit needs to harvest a credential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9F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GAP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Strong tools exist in isolation. None are integrated.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37560" y="196596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COVERS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35040" y="196596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WEAKNESS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732520" y="196596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WEAKNESS 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331720"/>
            <a:ext cx="10881360" cy="0"/>
          </a:xfrm>
          <a:prstGeom prst="line">
            <a:avLst/>
          </a:prstGeom>
          <a:noFill/>
          <a:ln w="12700">
            <a:solidFill>
              <a:srgbClr val="2A2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51460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Deepware / Sensity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37560" y="251460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only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035040" y="251460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explanation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732520" y="251460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Enterprise-priced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172968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Shodan / Nessus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37560" y="3172968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/ network only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35040" y="3172968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network access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732520" y="3172968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configuration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831336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I Been Pwned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37560" y="3831336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 lookup only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35040" y="3831336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lookup type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732520" y="3831336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integrated elsewhere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489704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LLM chatbots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37560" y="4489704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advice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035040" y="4489704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domain grounding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732520" y="4489704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result integration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5148072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NewsGuard / Snopes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337560" y="5148072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Human-curated ratings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035040" y="5148072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Can’t score new content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732520" y="5148072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real-time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598932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32A1D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598932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0D1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published or shipped platform combines all of the above under one accessible, explained experience.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30D1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PLATFORM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DOBERMAN — nine capabilities, one watchdog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429000" cy="1234440"/>
          </a:xfrm>
          <a:prstGeom prst="roundRect">
            <a:avLst>
              <a:gd name="adj" fmla="val 7407"/>
            </a:avLst>
          </a:prstGeom>
          <a:solidFill>
            <a:srgbClr val="1B1F29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2240280"/>
            <a:ext cx="502920" cy="502920"/>
          </a:xfrm>
          <a:prstGeom prst="oval">
            <a:avLst/>
          </a:prstGeom>
          <a:solidFill>
            <a:srgbClr val="13161D"/>
          </a:solidFill>
          <a:ln w="12700">
            <a:solidFill>
              <a:srgbClr val="FF3B30"/>
            </a:solidFill>
            <a:prstDash val="solid"/>
          </a:ln>
        </p:spPr>
      </p:sp>
      <p:pic>
        <p:nvPicPr>
          <p:cNvPr id="6" name="Image 0" descr="/home/user/DOBERMAN-/.eval-scripts/pptx-build/icons/eye-FF3B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3545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0574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554480" y="24688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detection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206240" y="1874520"/>
            <a:ext cx="3429000" cy="1234440"/>
          </a:xfrm>
          <a:prstGeom prst="roundRect">
            <a:avLst>
              <a:gd name="adj" fmla="val 7407"/>
            </a:avLst>
          </a:prstGeom>
          <a:solidFill>
            <a:srgbClr val="1B1F29"/>
          </a:solidFill>
          <a:ln/>
        </p:spPr>
      </p:sp>
      <p:sp>
        <p:nvSpPr>
          <p:cNvPr id="10" name="Shape 7"/>
          <p:cNvSpPr/>
          <p:nvPr/>
        </p:nvSpPr>
        <p:spPr>
          <a:xfrm>
            <a:off x="4407408" y="2240280"/>
            <a:ext cx="502920" cy="502920"/>
          </a:xfrm>
          <a:prstGeom prst="oval">
            <a:avLst/>
          </a:prstGeom>
          <a:solidFill>
            <a:srgbClr val="13161D"/>
          </a:solidFill>
          <a:ln w="12700">
            <a:solidFill>
              <a:srgbClr val="BF5AF2"/>
            </a:solidFill>
            <a:prstDash val="solid"/>
          </a:ln>
        </p:spPr>
      </p:sp>
      <p:pic>
        <p:nvPicPr>
          <p:cNvPr id="11" name="Image 1" descr="/home/user/DOBERMAN-/.eval-scripts/pptx-build/icons/mic-BF5AF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235458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20640" y="20574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Intel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120640" y="24688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/ manipulation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772400" y="1874520"/>
            <a:ext cx="3429000" cy="1234440"/>
          </a:xfrm>
          <a:prstGeom prst="roundRect">
            <a:avLst>
              <a:gd name="adj" fmla="val 7407"/>
            </a:avLst>
          </a:prstGeom>
          <a:solidFill>
            <a:srgbClr val="1B1F2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2240280"/>
            <a:ext cx="502920" cy="502920"/>
          </a:xfrm>
          <a:prstGeom prst="oval">
            <a:avLst/>
          </a:prstGeom>
          <a:solidFill>
            <a:srgbClr val="13161D"/>
          </a:solidFill>
          <a:ln w="12700">
            <a:solidFill>
              <a:srgbClr val="0A84FF"/>
            </a:solidFill>
            <a:prstDash val="solid"/>
          </a:ln>
        </p:spPr>
      </p:sp>
      <p:pic>
        <p:nvPicPr>
          <p:cNvPr id="16" name="Image 2" descr="/home/user/DOBERMAN-/.eval-scripts/pptx-build/icons/file-0A84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235458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6800" y="20574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AI-Detect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686800" y="24688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Stylometric signals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40080" y="3273552"/>
            <a:ext cx="3429000" cy="1234440"/>
          </a:xfrm>
          <a:prstGeom prst="roundRect">
            <a:avLst>
              <a:gd name="adj" fmla="val 7407"/>
            </a:avLst>
          </a:prstGeom>
          <a:solidFill>
            <a:srgbClr val="1B1F29"/>
          </a:solidFill>
          <a:ln/>
        </p:spPr>
      </p:sp>
      <p:sp>
        <p:nvSpPr>
          <p:cNvPr id="20" name="Shape 15"/>
          <p:cNvSpPr/>
          <p:nvPr/>
        </p:nvSpPr>
        <p:spPr>
          <a:xfrm>
            <a:off x="841248" y="3639312"/>
            <a:ext cx="502920" cy="502920"/>
          </a:xfrm>
          <a:prstGeom prst="oval">
            <a:avLst/>
          </a:prstGeom>
          <a:solidFill>
            <a:srgbClr val="13161D"/>
          </a:solidFill>
          <a:ln w="12700">
            <a:solidFill>
              <a:srgbClr val="FF9F0A"/>
            </a:solidFill>
            <a:prstDash val="solid"/>
          </a:ln>
        </p:spPr>
      </p:sp>
      <p:pic>
        <p:nvPicPr>
          <p:cNvPr id="21" name="Image 3" descr="/home/user/DOBERMAN-/.eval-scripts/pptx-build/icons/wifi-FF9F0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3753612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554480" y="345643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NOSE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1554480" y="386791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risk triage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206240" y="3273552"/>
            <a:ext cx="3429000" cy="1234440"/>
          </a:xfrm>
          <a:prstGeom prst="roundRect">
            <a:avLst>
              <a:gd name="adj" fmla="val 7407"/>
            </a:avLst>
          </a:prstGeom>
          <a:solidFill>
            <a:srgbClr val="1B1F29"/>
          </a:solidFill>
          <a:ln/>
        </p:spPr>
      </p:sp>
      <p:sp>
        <p:nvSpPr>
          <p:cNvPr id="25" name="Shape 19"/>
          <p:cNvSpPr/>
          <p:nvPr/>
        </p:nvSpPr>
        <p:spPr>
          <a:xfrm>
            <a:off x="4407408" y="3639312"/>
            <a:ext cx="502920" cy="502920"/>
          </a:xfrm>
          <a:prstGeom prst="oval">
            <a:avLst/>
          </a:prstGeom>
          <a:solidFill>
            <a:srgbClr val="13161D"/>
          </a:solidFill>
          <a:ln w="12700">
            <a:solidFill>
              <a:srgbClr val="30D158"/>
            </a:solidFill>
            <a:prstDash val="solid"/>
          </a:ln>
        </p:spPr>
      </p:sp>
      <p:pic>
        <p:nvPicPr>
          <p:cNvPr id="26" name="Image 4" descr="/home/user/DOBERMAN-/.eval-scripts/pptx-build/icons/key-30D15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3753612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20640" y="345643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 Detect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5120640" y="386791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HIBP + k-anonymity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7772400" y="3273552"/>
            <a:ext cx="3429000" cy="1234440"/>
          </a:xfrm>
          <a:prstGeom prst="roundRect">
            <a:avLst>
              <a:gd name="adj" fmla="val 7407"/>
            </a:avLst>
          </a:prstGeom>
          <a:solidFill>
            <a:srgbClr val="1B1F29"/>
          </a:solidFill>
          <a:ln/>
        </p:spPr>
      </p:sp>
      <p:sp>
        <p:nvSpPr>
          <p:cNvPr id="30" name="Shape 23"/>
          <p:cNvSpPr/>
          <p:nvPr/>
        </p:nvSpPr>
        <p:spPr>
          <a:xfrm>
            <a:off x="7973568" y="3639312"/>
            <a:ext cx="502920" cy="502920"/>
          </a:xfrm>
          <a:prstGeom prst="oval">
            <a:avLst/>
          </a:prstGeom>
          <a:solidFill>
            <a:srgbClr val="13161D"/>
          </a:solidFill>
          <a:ln w="12700">
            <a:solidFill>
              <a:srgbClr val="FF3B30"/>
            </a:solidFill>
            <a:prstDash val="solid"/>
          </a:ln>
        </p:spPr>
      </p:sp>
      <p:pic>
        <p:nvPicPr>
          <p:cNvPr id="31" name="Image 5" descr="/home/user/DOBERMAN-/.eval-scripts/pptx-build/icons/link-FF3B3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2440" y="3753612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686800" y="345643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Link</a:t>
            </a:r>
            <a:endParaRPr lang="en-US" sz="1500" dirty="0"/>
          </a:p>
        </p:txBody>
      </p:sp>
      <p:sp>
        <p:nvSpPr>
          <p:cNvPr id="33" name="Text 25"/>
          <p:cNvSpPr/>
          <p:nvPr/>
        </p:nvSpPr>
        <p:spPr>
          <a:xfrm>
            <a:off x="8686800" y="386791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scoring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640080" y="4672584"/>
            <a:ext cx="3429000" cy="1234440"/>
          </a:xfrm>
          <a:prstGeom prst="roundRect">
            <a:avLst>
              <a:gd name="adj" fmla="val 7407"/>
            </a:avLst>
          </a:prstGeom>
          <a:solidFill>
            <a:srgbClr val="1B1F29"/>
          </a:solidFill>
          <a:ln/>
        </p:spPr>
      </p:sp>
      <p:sp>
        <p:nvSpPr>
          <p:cNvPr id="35" name="Shape 27"/>
          <p:cNvSpPr/>
          <p:nvPr/>
        </p:nvSpPr>
        <p:spPr>
          <a:xfrm>
            <a:off x="841248" y="5038344"/>
            <a:ext cx="502920" cy="502920"/>
          </a:xfrm>
          <a:prstGeom prst="oval">
            <a:avLst/>
          </a:prstGeom>
          <a:solidFill>
            <a:srgbClr val="13161D"/>
          </a:solidFill>
          <a:ln w="12700">
            <a:solidFill>
              <a:srgbClr val="0A84FF"/>
            </a:solidFill>
            <a:prstDash val="solid"/>
          </a:ln>
        </p:spPr>
      </p:sp>
      <p:pic>
        <p:nvPicPr>
          <p:cNvPr id="36" name="Image 6" descr="/home/user/DOBERMAN-/.eval-scripts/pptx-build/icons/newspaper-0A84FF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152644"/>
            <a:ext cx="274320" cy="27432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554480" y="4855464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</a:t>
            </a:r>
            <a:endParaRPr lang="en-US" sz="1500" dirty="0"/>
          </a:p>
        </p:txBody>
      </p:sp>
      <p:sp>
        <p:nvSpPr>
          <p:cNvPr id="38" name="Text 29"/>
          <p:cNvSpPr/>
          <p:nvPr/>
        </p:nvSpPr>
        <p:spPr>
          <a:xfrm>
            <a:off x="1554480" y="5266944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/ verify / chat</a:t>
            </a:r>
            <a:endParaRPr lang="en-US" sz="1100" dirty="0"/>
          </a:p>
        </p:txBody>
      </p:sp>
      <p:sp>
        <p:nvSpPr>
          <p:cNvPr id="39" name="Shape 30"/>
          <p:cNvSpPr/>
          <p:nvPr/>
        </p:nvSpPr>
        <p:spPr>
          <a:xfrm>
            <a:off x="4206240" y="4672584"/>
            <a:ext cx="3429000" cy="1234440"/>
          </a:xfrm>
          <a:prstGeom prst="roundRect">
            <a:avLst>
              <a:gd name="adj" fmla="val 7407"/>
            </a:avLst>
          </a:prstGeom>
          <a:solidFill>
            <a:srgbClr val="1B1F29"/>
          </a:solidFill>
          <a:ln/>
        </p:spPr>
      </p:sp>
      <p:sp>
        <p:nvSpPr>
          <p:cNvPr id="40" name="Shape 31"/>
          <p:cNvSpPr/>
          <p:nvPr/>
        </p:nvSpPr>
        <p:spPr>
          <a:xfrm>
            <a:off x="4407408" y="5038344"/>
            <a:ext cx="502920" cy="502920"/>
          </a:xfrm>
          <a:prstGeom prst="oval">
            <a:avLst/>
          </a:prstGeom>
          <a:solidFill>
            <a:srgbClr val="13161D"/>
          </a:solidFill>
          <a:ln w="12700">
            <a:solidFill>
              <a:srgbClr val="BF5AF2"/>
            </a:solidFill>
            <a:prstDash val="solid"/>
          </a:ln>
        </p:spPr>
      </p:sp>
      <p:pic>
        <p:nvPicPr>
          <p:cNvPr id="41" name="Image 7" descr="/home/user/DOBERMAN-/.eval-scripts/pptx-build/icons/globe-BF5AF2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6280" y="5152644"/>
            <a:ext cx="274320" cy="274320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5120640" y="4855464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Globe</a:t>
            </a:r>
            <a:endParaRPr lang="en-US" sz="1500" dirty="0"/>
          </a:p>
        </p:txBody>
      </p:sp>
      <p:sp>
        <p:nvSpPr>
          <p:cNvPr id="43" name="Text 33"/>
          <p:cNvSpPr/>
          <p:nvPr/>
        </p:nvSpPr>
        <p:spPr>
          <a:xfrm>
            <a:off x="5120640" y="5266944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threat briefs</a:t>
            </a:r>
            <a:endParaRPr lang="en-US" sz="1100" dirty="0"/>
          </a:p>
        </p:txBody>
      </p:sp>
      <p:sp>
        <p:nvSpPr>
          <p:cNvPr id="44" name="Shape 34"/>
          <p:cNvSpPr/>
          <p:nvPr/>
        </p:nvSpPr>
        <p:spPr>
          <a:xfrm>
            <a:off x="7772400" y="4672584"/>
            <a:ext cx="3429000" cy="1234440"/>
          </a:xfrm>
          <a:prstGeom prst="roundRect">
            <a:avLst>
              <a:gd name="adj" fmla="val 7407"/>
            </a:avLst>
          </a:prstGeom>
          <a:solidFill>
            <a:srgbClr val="1B1F29"/>
          </a:solidFill>
          <a:ln/>
        </p:spPr>
      </p:sp>
      <p:sp>
        <p:nvSpPr>
          <p:cNvPr id="45" name="Shape 35"/>
          <p:cNvSpPr/>
          <p:nvPr/>
        </p:nvSpPr>
        <p:spPr>
          <a:xfrm>
            <a:off x="7973568" y="5038344"/>
            <a:ext cx="502920" cy="502920"/>
          </a:xfrm>
          <a:prstGeom prst="oval">
            <a:avLst/>
          </a:prstGeom>
          <a:solidFill>
            <a:srgbClr val="13161D"/>
          </a:solidFill>
          <a:ln w="12700">
            <a:solidFill>
              <a:srgbClr val="30D158"/>
            </a:solidFill>
            <a:prstDash val="solid"/>
          </a:ln>
        </p:spPr>
      </p:sp>
      <p:pic>
        <p:nvPicPr>
          <p:cNvPr id="46" name="Image 8" descr="/home/user/DOBERMAN-/.eval-scripts/pptx-build/icons/brain-30D158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92440" y="5152644"/>
            <a:ext cx="274320" cy="274320"/>
          </a:xfrm>
          <a:prstGeom prst="rect">
            <a:avLst/>
          </a:prstGeom>
        </p:spPr>
      </p:pic>
      <p:sp>
        <p:nvSpPr>
          <p:cNvPr id="47" name="Text 36"/>
          <p:cNvSpPr/>
          <p:nvPr/>
        </p:nvSpPr>
        <p:spPr>
          <a:xfrm>
            <a:off x="8686800" y="4855464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DAYE</a:t>
            </a:r>
            <a:endParaRPr lang="en-US" sz="1500" dirty="0"/>
          </a:p>
        </p:txBody>
      </p:sp>
      <p:sp>
        <p:nvSpPr>
          <p:cNvPr id="48" name="Text 37"/>
          <p:cNvSpPr/>
          <p:nvPr/>
        </p:nvSpPr>
        <p:spPr>
          <a:xfrm>
            <a:off x="8686800" y="5266944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Context-aware analyst</a:t>
            </a:r>
            <a:endParaRPr lang="en-US" sz="1100" dirty="0"/>
          </a:p>
        </p:txBody>
      </p:sp>
      <p:sp>
        <p:nvSpPr>
          <p:cNvPr id="49" name="Text 38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0A8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Three tiers. Every secret stays server-side.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1316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7452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474720" y="20574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TypeScript SPA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474720" y="249631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extension (Manifest V3)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89320" y="306324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329184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1B1F29"/>
          </a:solidFill>
          <a:ln w="12700">
            <a:solidFill>
              <a:srgbClr val="0A84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29184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A8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 FUNCTIONS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74720" y="3474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Deno serverless functions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74720" y="391363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· auth check · provider calls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89320" y="448056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470916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1B1F29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70916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0D1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+ PROVIDERS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74720" y="4892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 + RLS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74720" y="53309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· Gemini · Hive AI · HIBP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for this report: provider API keys never appear in the compiled client bundle.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F5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CENTRAL CONTRIBUTION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DAYE — one persona, a prompt template per context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108960" cy="3108960"/>
          </a:xfrm>
          <a:prstGeom prst="oval">
            <a:avLst/>
          </a:prstGeom>
          <a:solidFill>
            <a:srgbClr val="241B2E"/>
          </a:solidFill>
          <a:ln w="19050">
            <a:solidFill>
              <a:srgbClr val="BF5AF2"/>
            </a:solidFill>
            <a:prstDash val="solid"/>
          </a:ln>
        </p:spPr>
      </p:sp>
      <p:pic>
        <p:nvPicPr>
          <p:cNvPr id="5" name="Image 0" descr="/home/user/DOBERMAN-/.eval-scripts/pptx-build/icons/robot-BF5AF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2743200"/>
            <a:ext cx="1188720" cy="11887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89204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Doberman Artificial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Yield Engine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114800" y="1828800"/>
            <a:ext cx="109728" cy="109728"/>
          </a:xfrm>
          <a:prstGeom prst="oval">
            <a:avLst/>
          </a:prstGeom>
          <a:solidFill>
            <a:srgbClr val="BF5AF2"/>
          </a:solidFill>
          <a:ln/>
        </p:spPr>
      </p:sp>
      <p:sp>
        <p:nvSpPr>
          <p:cNvPr id="8" name="Text 5"/>
          <p:cNvSpPr/>
          <p:nvPr/>
        </p:nvSpPr>
        <p:spPr>
          <a:xfrm>
            <a:off x="4389120" y="1709928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context-specific prompt templates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389120" y="2039112"/>
            <a:ext cx="6949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deepfake_result, voice_result, breach_result, scam_link_result, globe_country, idle_tip — each references the calling module’s own structured fields rather than re-deriving a verdict.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0" y="2788920"/>
            <a:ext cx="109728" cy="109728"/>
          </a:xfrm>
          <a:prstGeom prst="oval">
            <a:avLst/>
          </a:prstGeom>
          <a:solidFill>
            <a:srgbClr val="BF5AF2"/>
          </a:solidFill>
          <a:ln/>
        </p:spPr>
      </p:sp>
      <p:sp>
        <p:nvSpPr>
          <p:cNvPr id="11" name="Text 8"/>
          <p:cNvSpPr/>
          <p:nvPr/>
        </p:nvSpPr>
        <p:spPr>
          <a:xfrm>
            <a:off x="4389120" y="2670048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signals, not headlines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389120" y="2999232"/>
            <a:ext cx="6949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explicitly instruct: interpret which signals actually drove the verdict, don’t just restate the number.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114800" y="3749040"/>
            <a:ext cx="109728" cy="109728"/>
          </a:xfrm>
          <a:prstGeom prst="oval">
            <a:avLst/>
          </a:prstGeom>
          <a:solidFill>
            <a:srgbClr val="BF5AF2"/>
          </a:solidFill>
          <a:ln/>
        </p:spPr>
      </p:sp>
      <p:sp>
        <p:nvSpPr>
          <p:cNvPr id="14" name="Text 11"/>
          <p:cNvSpPr/>
          <p:nvPr/>
        </p:nvSpPr>
        <p:spPr>
          <a:xfrm>
            <a:off x="4389120" y="3630168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Dual-provider resilience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4389120" y="3959352"/>
            <a:ext cx="6949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primary → automatic Gemini fallback on failure, added after single-provider dependency was flagged as a risk during development.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114800" y="4709160"/>
            <a:ext cx="109728" cy="109728"/>
          </a:xfrm>
          <a:prstGeom prst="oval">
            <a:avLst/>
          </a:prstGeom>
          <a:solidFill>
            <a:srgbClr val="BF5AF2"/>
          </a:solidFill>
          <a:ln/>
        </p:spPr>
      </p:sp>
      <p:sp>
        <p:nvSpPr>
          <p:cNvPr id="17" name="Text 14"/>
          <p:cNvSpPr/>
          <p:nvPr/>
        </p:nvSpPr>
        <p:spPr>
          <a:xfrm>
            <a:off x="4389120" y="4590288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honesty instruction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389120" y="4919472"/>
            <a:ext cx="6949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"If you are not confident about specific claims... keep it accurate and general rather than inventing specifics" — verified directly in the deployed prompt.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3B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SPOTLIGHT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EYES · Voice Intelligence · Text AI-Detection</a:t>
            </a:r>
            <a:endParaRPr lang="en-US" sz="2700" dirty="0"/>
          </a:p>
        </p:txBody>
      </p:sp>
      <p:pic>
        <p:nvPicPr>
          <p:cNvPr id="4" name="Image 0" descr="/home/user/DOBERMAN-/.eval-scripts/pptx-build/shots/03-eyes-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600200"/>
            <a:ext cx="5212080" cy="33101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309360" y="1600200"/>
            <a:ext cx="5212080" cy="3310128"/>
          </a:xfrm>
          <a:prstGeom prst="roundRect">
            <a:avLst>
              <a:gd name="adj" fmla="val 1381"/>
            </a:avLst>
          </a:prstGeom>
          <a:ln w="12700">
            <a:solidFill>
              <a:srgbClr val="2A2F3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6916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Hive AI computer vision + Claude explanation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2039112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 calls a real third-party detection provider, then DAYE translates the raw classification into plain language.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27432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signals, not a bare score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090672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AI-generation probability, deepfake probability, C2PA credential status, and model attribution shown separately.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379476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Voice: pause-pattern literature informed design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" y="4142232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clone indicators (pitch stability, missing breath sounds) over a single number — consistent with JMIR 2024 findings.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48463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Text: minimum word-count gate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40080" y="5193792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Stylometric signals (sentence uniformity, generic phrasing) surfaced explicitly, framed as probabilistic evidence.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309360" y="4956048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Simulated result shown — see Slide 12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9F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SPOTLIGHT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NOSE — IoT risk triage from plain language</a:t>
            </a:r>
            <a:endParaRPr lang="en-US" sz="2800" dirty="0"/>
          </a:p>
        </p:txBody>
      </p:sp>
      <p:pic>
        <p:nvPicPr>
          <p:cNvPr id="4" name="Image 0" descr="/home/user/DOBERMAN-/.eval-scripts/pptx-build/shots/real-09-nose-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00200"/>
            <a:ext cx="5212080" cy="3429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600200"/>
            <a:ext cx="5212080" cy="3429000"/>
          </a:xfrm>
          <a:prstGeom prst="roundRect">
            <a:avLst>
              <a:gd name="adj" fmla="val 1333"/>
            </a:avLst>
          </a:prstGeom>
          <a:ln w="12700">
            <a:solidFill>
              <a:srgbClr val="2A2F3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5120640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live test: 4-device home network → 90/100 risk, correctly ranking the EOL D-Link extender highest.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172200" y="160020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2E1610"/>
          </a:solidFill>
          <a:ln w="12700">
            <a:solidFill>
              <a:srgbClr val="FF3B30"/>
            </a:solidFill>
            <a:prstDash val="solid"/>
          </a:ln>
        </p:spPr>
      </p:sp>
      <p:pic>
        <p:nvPicPr>
          <p:cNvPr id="8" name="Image 1" descr="/home/user/DOBERMAN-/.eval-scripts/pptx-build/icons/warning-FF3B3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82880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949440" y="18288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3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claim we withdrew — then verified for real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6446520" y="233172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earlier report claimed NOSE’s CVEs were "verified, not hallucinated." The deployed function has no NVD lookup — it’s pure LLM generation, so that claim was withdrawn.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6446520" y="333756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then spot-checked 3 of the 12 CVEs the live test above returned against public NVD sources: 1 correct, 2 real-but-misattributed, 1 not found anywhere — likely fabricated.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446520" y="4297680"/>
            <a:ext cx="4846320" cy="0"/>
          </a:xfrm>
          <a:prstGeom prst="line">
            <a:avLst/>
          </a:prstGeom>
          <a:noFill/>
          <a:ln w="12700">
            <a:solidFill>
              <a:srgbClr val="4A201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46520" y="443484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0D1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mixed result is the fix: server-side NVD/CIRCL cross-referencing before any CVE is returned to a user remains the priority.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30D1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SPOTLIGHT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Breach Detection — real HIBP, honest gaps</a:t>
            </a:r>
            <a:endParaRPr lang="en-US" sz="2800" dirty="0"/>
          </a:p>
        </p:txBody>
      </p:sp>
      <p:pic>
        <p:nvPicPr>
          <p:cNvPr id="4" name="Image 0" descr="/home/user/DOBERMAN-/.eval-scripts/pptx-build/shots/real-12-breach-passwo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600200"/>
            <a:ext cx="5212080" cy="33101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309360" y="1600200"/>
            <a:ext cx="5212080" cy="3310128"/>
          </a:xfrm>
          <a:prstGeom prst="roundRect">
            <a:avLst>
              <a:gd name="adj" fmla="val 1381"/>
            </a:avLst>
          </a:prstGeom>
          <a:ln w="12700">
            <a:solidFill>
              <a:srgbClr val="2A2F3A"/>
            </a:solidFill>
            <a:prstDash val="solid"/>
          </a:ln>
        </p:spPr>
      </p:sp>
      <p:pic>
        <p:nvPicPr>
          <p:cNvPr id="6" name="Image 1" descr="/home/user/DOBERMAN-/.eval-scripts/pptx-build/icons/check-30D15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320040" cy="3200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43000" y="169164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Passwords: real k-anonymity protocol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1143000" y="210312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SHA-1 hashed locally, only a 5-character prefix sent to Pwned Passwords. Live test: 3,196 real breach occurrences returned.</a:t>
            </a:r>
            <a:endParaRPr lang="en-US" sz="1100" dirty="0"/>
          </a:p>
        </p:txBody>
      </p:sp>
      <p:pic>
        <p:nvPicPr>
          <p:cNvPr id="9" name="Image 2" descr="/home/user/DOBERMAN-/.eval-scripts/pptx-build/icons/check-30D15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971800"/>
            <a:ext cx="320040" cy="3200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43000" y="292608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Emails: live HIBP breach-account API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1143000" y="333756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when a key is configured — a real historical row returned a genuine "not breached" verdict.</a:t>
            </a:r>
            <a:endParaRPr lang="en-US" sz="1100" dirty="0"/>
          </a:p>
        </p:txBody>
      </p:sp>
      <p:pic>
        <p:nvPicPr>
          <p:cNvPr id="12" name="Image 3" descr="/home/user/DOBERMAN-/.eval-scripts/pptx-build/icons/check-30D15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206240"/>
            <a:ext cx="320040" cy="32004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43000" y="4160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Phones: explicitly "unavailable"</a:t>
            </a:r>
            <a:endParaRPr lang="en-US" sz="1400" dirty="0"/>
          </a:p>
        </p:txBody>
      </p:sp>
      <p:sp>
        <p:nvSpPr>
          <p:cNvPr id="14" name="Text 8"/>
          <p:cNvSpPr/>
          <p:nvPr/>
        </p:nvSpPr>
        <p:spPr>
          <a:xfrm>
            <a:off x="1143000" y="45720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verified data source exists for this lookup, so the function says so — verified directly in source, not inferred.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6309360" y="4956048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live result — genuine password breach lookup, shown above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0A8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SPOTLIGHT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Scam Link · News Intelligence · Cyber Globe</a:t>
            </a:r>
            <a:endParaRPr lang="en-US" sz="2700" dirty="0"/>
          </a:p>
        </p:txBody>
      </p:sp>
      <p:pic>
        <p:nvPicPr>
          <p:cNvPr id="4" name="Image 0" descr="/home/user/DOBERMAN-/.eval-scripts/pptx-build/shots/13-glob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91640"/>
            <a:ext cx="10881360" cy="2286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691640"/>
            <a:ext cx="10881360" cy="2286000"/>
          </a:xfrm>
          <a:prstGeom prst="roundRect">
            <a:avLst>
              <a:gd name="adj" fmla="val 2000"/>
            </a:avLst>
          </a:prstGeom>
          <a:ln w="12700">
            <a:solidFill>
              <a:srgbClr val="2A2F3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42519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Link Analyzer — real live tests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4617720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Live-tested against a constructed phishing URL (98/100, PHISHING) and a real GitHub URL (0/100, SAFE) — both correctly classified.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297680" y="42519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NEWS: feed, verify, and chat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297680" y="4617720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cyber-news feed, a credibility verifier, and a separate per-article conversational analyst.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955280" y="42519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Globe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955280" y="4617720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Cached, 24h-TTL country threat briefs — prompt explicitly forbids inventing statistics for low-profile countries.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30D1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 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Verified directly against the live deployment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03520" cy="1783080"/>
          </a:xfrm>
          <a:prstGeom prst="roundRect">
            <a:avLst>
              <a:gd name="adj" fmla="val 5128"/>
            </a:avLst>
          </a:prstGeom>
          <a:solidFill>
            <a:srgbClr val="1B1F29"/>
          </a:solidFill>
          <a:ln/>
        </p:spPr>
      </p:sp>
      <p:pic>
        <p:nvPicPr>
          <p:cNvPr id="5" name="Image 0" descr="/home/user/DOBERMAN-/.eval-scripts/pptx-build/icons/shield-30D15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4884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69748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 on every table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14400" y="31089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via direct inspection of the live Supabase project — not assumed from migration files.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217920" y="1874520"/>
            <a:ext cx="5303520" cy="1783080"/>
          </a:xfrm>
          <a:prstGeom prst="roundRect">
            <a:avLst>
              <a:gd name="adj" fmla="val 5128"/>
            </a:avLst>
          </a:prstGeom>
          <a:solidFill>
            <a:srgbClr val="1B1F29"/>
          </a:solidFill>
          <a:ln/>
        </p:spPr>
      </p:sp>
      <p:pic>
        <p:nvPicPr>
          <p:cNvPr id="9" name="Image 1" descr="/home/user/DOBERMAN-/.eval-scripts/pptx-build/icons/shield-30D15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4884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92240" y="269748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provider secret in the client bundle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492240" y="31089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Claude / Gemini / Hive / HIBP key is read server-side only, inside an edge function.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0080" y="3886200"/>
            <a:ext cx="5303520" cy="1783080"/>
          </a:xfrm>
          <a:prstGeom prst="roundRect">
            <a:avLst>
              <a:gd name="adj" fmla="val 5128"/>
            </a:avLst>
          </a:prstGeom>
          <a:solidFill>
            <a:srgbClr val="1B1F29"/>
          </a:solidFill>
          <a:ln/>
        </p:spPr>
      </p:sp>
      <p:pic>
        <p:nvPicPr>
          <p:cNvPr id="13" name="Image 2" descr="/home/user/DOBERMAN-/.eval-scripts/pptx-build/icons/shield-30D15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16052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14400" y="470916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 removed, verified in source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914400" y="51206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scan caps were deliberately removed during dev. usage_logs still audits — it no longer gates. Cost exposure now rests on provider quotas.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217920" y="3886200"/>
            <a:ext cx="5303520" cy="1783080"/>
          </a:xfrm>
          <a:prstGeom prst="roundRect">
            <a:avLst>
              <a:gd name="adj" fmla="val 5128"/>
            </a:avLst>
          </a:prstGeom>
          <a:solidFill>
            <a:srgbClr val="1B1F29"/>
          </a:solidFill>
          <a:ln/>
        </p:spPr>
      </p:sp>
      <p:pic>
        <p:nvPicPr>
          <p:cNvPr id="17" name="Image 3" descr="/home/user/DOBERMAN-/.eval-scripts/pptx-build/icons/shield-30D15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16052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92240" y="470916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 a fake feature, live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492240" y="51206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Live-testing found the sidebar Scam Link tab was 100% simulated (keyword-match, no real call) — ported the real analyzer in, deleted the fake one.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9F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this report can and cannot claim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4206240"/>
          </a:xfrm>
          <a:prstGeom prst="roundRect">
            <a:avLst>
              <a:gd name="adj" fmla="val 2174"/>
            </a:avLst>
          </a:prstGeom>
          <a:solidFill>
            <a:srgbClr val="132A1D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0D1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26 real EYES scans pulled from production DB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303580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2 self-evident ChatGPT images, correctly flagged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60273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Real DAYE chat, real repeated NEWS verify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416966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All 9 modules now have real, genuine evidence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737360"/>
            <a:ext cx="5257800" cy="4206240"/>
          </a:xfrm>
          <a:prstGeom prst="roundRect">
            <a:avLst>
              <a:gd name="adj" fmla="val 2174"/>
            </a:avLst>
          </a:prstGeom>
          <a:solidFill>
            <a:srgbClr val="2E1610"/>
          </a:solidFill>
          <a:ln w="12700">
            <a:solidFill>
              <a:srgbClr val="FF3B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3B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CLAIMED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37960" y="246888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Measured accuracy / false-positive rate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37960" y="303580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NOSE/Voice/Scam Link real samples are 1-2 each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37960" y="360273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Live penetration testing outcomes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37960" y="416966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Real, consented user-acceptance testing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60807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data was pulled directly from the production database; NOSE, Voice, Scam Link, and Breach-password results were obtained by genuinely invoking the live edge functions via pg_net, then replayed through the real frontend.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0A8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Real production data, real screenshots</a:t>
            </a:r>
            <a:endParaRPr lang="en-US" sz="2800" dirty="0"/>
          </a:p>
        </p:txBody>
      </p:sp>
      <p:pic>
        <p:nvPicPr>
          <p:cNvPr id="4" name="Image 0" descr="/home/user/DOBERMAN-/.eval-scripts/pptx-build/shots/real-01-eyes-hi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91640"/>
            <a:ext cx="3520440" cy="2240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691640"/>
            <a:ext cx="3520440" cy="2240280"/>
          </a:xfrm>
          <a:prstGeom prst="roundRect">
            <a:avLst>
              <a:gd name="adj" fmla="val 2041"/>
            </a:avLst>
          </a:prstGeom>
          <a:ln w="12700">
            <a:solidFill>
              <a:srgbClr val="2A2F3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402336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real EYES scans</a:t>
            </a:r>
            <a:endParaRPr lang="en-US" sz="1200" dirty="0"/>
          </a:p>
        </p:txBody>
      </p:sp>
      <p:pic>
        <p:nvPicPr>
          <p:cNvPr id="7" name="Image 1" descr="/home/user/DOBERMAN-/.eval-scripts/pptx-build/shots/real-13-voice-resul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7680" y="1691640"/>
            <a:ext cx="3520440" cy="22402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297680" y="1691640"/>
            <a:ext cx="3520440" cy="2240280"/>
          </a:xfrm>
          <a:prstGeom prst="roundRect">
            <a:avLst>
              <a:gd name="adj" fmla="val 2041"/>
            </a:avLst>
          </a:prstGeom>
          <a:ln w="12700">
            <a:solidFill>
              <a:srgbClr val="2A2F3A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297680" y="402336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Voice Intelligence test</a:t>
            </a:r>
            <a:endParaRPr lang="en-US" sz="1200" dirty="0"/>
          </a:p>
        </p:txBody>
      </p:sp>
      <p:pic>
        <p:nvPicPr>
          <p:cNvPr id="10" name="Image 2" descr="/home/user/DOBERMAN-/.eval-scripts/pptx-build/shots/real-10-scamlink-phishing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55280" y="1691640"/>
            <a:ext cx="3520440" cy="22402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955280" y="1691640"/>
            <a:ext cx="3520440" cy="2240280"/>
          </a:xfrm>
          <a:prstGeom prst="roundRect">
            <a:avLst>
              <a:gd name="adj" fmla="val 2041"/>
            </a:avLst>
          </a:prstGeom>
          <a:ln w="12700">
            <a:solidFill>
              <a:srgbClr val="2A2F3A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7955280" y="402336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Scam Link phishing test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640080" y="46634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real, deployed DOBERMAN frontend. Left: historical production data. Centre/right: NOSE, Voice, and Scam Link results obtained by genuinely invoking the live functions for this report — real filenames, real signals, real timestamps. Only the browser login is reconstructed, since live auth to production isn’t reachable from this sandbox.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F5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CONTRIBUTION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DOBERMAN actually contributes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DOBERMAN does not claim to have invented or trained any detection model. Hive AI, Claude, and Gemini remain third-party services.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920240" y="2377440"/>
            <a:ext cx="914400" cy="914400"/>
          </a:xfrm>
          <a:prstGeom prst="oval">
            <a:avLst/>
          </a:prstGeom>
          <a:solidFill>
            <a:srgbClr val="1B1F29"/>
          </a:solidFill>
          <a:ln w="12700">
            <a:solidFill>
              <a:srgbClr val="30D158"/>
            </a:solidFill>
            <a:prstDash val="solid"/>
          </a:ln>
        </p:spPr>
      </p:sp>
      <p:pic>
        <p:nvPicPr>
          <p:cNvPr id="6" name="Image 0" descr="/home/user/DOBERMAN-/.eval-scripts/pptx-build/icons/layers-30D15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26060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4290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layer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3886200"/>
            <a:ext cx="3520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secure, rate-limited, multi-provider integration across four heterogeneous AI/security APIs behind one architecture.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577840" y="2377440"/>
            <a:ext cx="914400" cy="914400"/>
          </a:xfrm>
          <a:prstGeom prst="oval">
            <a:avLst/>
          </a:prstGeom>
          <a:solidFill>
            <a:srgbClr val="1B1F29"/>
          </a:solidFill>
          <a:ln w="12700">
            <a:solidFill>
              <a:srgbClr val="30D158"/>
            </a:solidFill>
            <a:prstDash val="solid"/>
          </a:ln>
        </p:spPr>
      </p:sp>
      <p:pic>
        <p:nvPicPr>
          <p:cNvPr id="10" name="Image 1" descr="/home/user/DOBERMAN-/.eval-scripts/pptx-build/icons/brain-30D15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0604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297680" y="34290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DAYE persona pattern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4297680" y="3886200"/>
            <a:ext cx="3520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reusable, context-aware explanatory layer — purpose-built prompts per result type, not a generic chatbot.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235440" y="2377440"/>
            <a:ext cx="914400" cy="914400"/>
          </a:xfrm>
          <a:prstGeom prst="oval">
            <a:avLst/>
          </a:prstGeom>
          <a:solidFill>
            <a:srgbClr val="1B1F29"/>
          </a:solidFill>
          <a:ln w="12700">
            <a:solidFill>
              <a:srgbClr val="30D158"/>
            </a:solidFill>
            <a:prstDash val="solid"/>
          </a:ln>
        </p:spPr>
      </p:sp>
      <p:pic>
        <p:nvPicPr>
          <p:cNvPr id="14" name="Image 2" descr="/home/user/DOBERMAN-/.eval-scripts/pptx-build/icons/shield-30D15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260604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955280" y="34290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Anti-fabrication discipline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7955280" y="3886200"/>
            <a:ext cx="3520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demonstrated, code-verified pattern of declining to invent results when live data is unavailable.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9F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LOOKING AHEAD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Limitations and the priority roadmap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F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LIMITATIONS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dataset-scale accuracy evaluation performed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live penetration testing against production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1089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NOSE still not in main nav (Scam Link now fixed)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36118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 few legacy tables need cleanup or removal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263640" y="16916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0D1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PRIORITY FUTURE WORK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263640" y="21031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Link NOSE into sidebar + Dashboard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63640" y="26060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Live NVD/CIRCL CVE cross-referencing in NOSE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263640" y="31089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Dataset-scale accuracy run (EYES/Voice/Text/NEWS)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263640" y="36118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Structured, consented user-acceptance testing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297680"/>
            <a:ext cx="10881360" cy="0"/>
          </a:xfrm>
          <a:prstGeom prst="line">
            <a:avLst/>
          </a:prstGeom>
          <a:noFill/>
          <a:ln w="12700">
            <a:solidFill>
              <a:srgbClr val="2A2F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5262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0D1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evaluation programme above is prioritised above any new feature — validating what exists matters more than extending it.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30D1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platform earns trust by being honest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about the edge of its own knowledge.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DOBERMAN’s architecture and every module’s interface were verified directly. Its detection accuracy was not measured — and this report says so plainly. Extending that evaluation is the most important next step for this project.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20624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0D15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49834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CAPABILITY AREAS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337560" y="420624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0D15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18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337560" y="49834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 FUNCTIONS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035040" y="420624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0D15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035040" y="49834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AI/SECURITY PROVIDERS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732520" y="420624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0D15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100%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732520" y="49834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TABLES WITH RLS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spc="300" kern="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DOBERMAN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B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 Questions.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42519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Olusanu Joshua Bankole  ·  2022/493  ·  B.Sc. Cyber Security  ·  PCU, Ibadan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DOBERMAN — Final Year Project Defence</dc:title>
  <dc:subject>PptxGenJS Presentation</dc:subject>
  <dc:creator>Olusanu Joshua Bankole</dc:creator>
  <cp:lastModifiedBy>Olusanu Joshua Bankole</cp:lastModifiedBy>
  <cp:revision>1</cp:revision>
  <dcterms:created xsi:type="dcterms:W3CDTF">2026-08-12T13:37:38Z</dcterms:created>
  <dcterms:modified xsi:type="dcterms:W3CDTF">2026-08-12T13:37:38Z</dcterms:modified>
</cp:coreProperties>
</file>